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italic.fntdata"/><Relationship Id="rId12" Type="http://schemas.openxmlformats.org/officeDocument/2006/relationships/slide" Target="slides/slide7.xml"/><Relationship Id="rId34" Type="http://schemas.openxmlformats.org/officeDocument/2006/relationships/font" Target="fonts/Roboto-bold.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f22a566212_5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g2f22a566212_5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f22a566212_5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g2f22a566212_5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7ff382c8d3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g27ff382c8d3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7ff382c8d3_0_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27ff382c8d3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7ff382c8d3_0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27ff382c8d3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27ff382c8d3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g27ff382c8d3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81311b8c7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281311b8c7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81311b8c75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 name="Google Shape;117;g281311b8c75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f22a566212_5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2f22a566212_5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f22a566212_5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f22a566212_5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f22a566212_5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2f22a566212_5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f22a566212_5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2f22a566212_5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f25e7d1d6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f25e7d1d6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f22a566212_5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f22a566212_5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f22a566212_5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f22a566212_5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f237b5df95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f237b5df95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f237b5df95_0_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g2f237b5df95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f22a566212_5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g2f22a566212_5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f237b5df95_2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2f237b5df95_2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f237b5df95_2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f237b5df95_2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f237b5df95_2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4" name="Google Shape;234;g2f237b5df95_2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f237b5df95_2_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2f237b5df95_2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f237b5df95_2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2f237b5df95_2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f237b5df95_2_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7" name="Google Shape;267;g2f237b5df95_2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f3b752c106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g2f3b752c10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f3b752c106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2f3b752c10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17.png"/><Relationship Id="rId7" Type="http://schemas.openxmlformats.org/officeDocument/2006/relationships/image" Target="../media/image3.png"/><Relationship Id="rId8"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24.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 Id="rId4" Type="http://schemas.openxmlformats.org/officeDocument/2006/relationships/image" Target="../media/image21.pn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jpg"/><Relationship Id="rId4" Type="http://schemas.openxmlformats.org/officeDocument/2006/relationships/image" Target="../media/image33.png"/><Relationship Id="rId5" Type="http://schemas.openxmlformats.org/officeDocument/2006/relationships/image" Target="../media/image15.png"/><Relationship Id="rId6"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jpg"/><Relationship Id="rId4" Type="http://schemas.openxmlformats.org/officeDocument/2006/relationships/image" Target="../media/image22.png"/><Relationship Id="rId5"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jpg"/><Relationship Id="rId4" Type="http://schemas.openxmlformats.org/officeDocument/2006/relationships/image" Target="../media/image27.png"/><Relationship Id="rId5" Type="http://schemas.openxmlformats.org/officeDocument/2006/relationships/image" Target="../media/image20.jpg"/><Relationship Id="rId6"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image" Target="../media/image25.png"/><Relationship Id="rId5" Type="http://schemas.openxmlformats.org/officeDocument/2006/relationships/image" Target="../media/image19.png"/><Relationship Id="rId6" Type="http://schemas.openxmlformats.org/officeDocument/2006/relationships/image" Target="../media/image3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jp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7.jpg"/><Relationship Id="rId4" Type="http://schemas.openxmlformats.org/officeDocument/2006/relationships/image" Target="../media/image46.png"/><Relationship Id="rId5" Type="http://schemas.openxmlformats.org/officeDocument/2006/relationships/image" Target="../media/image3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7.jpg"/><Relationship Id="rId4" Type="http://schemas.openxmlformats.org/officeDocument/2006/relationships/image" Target="../media/image54.png"/><Relationship Id="rId5" Type="http://schemas.openxmlformats.org/officeDocument/2006/relationships/image" Target="../media/image23.png"/><Relationship Id="rId6" Type="http://schemas.openxmlformats.org/officeDocument/2006/relationships/image" Target="../media/image42.png"/><Relationship Id="rId7" Type="http://schemas.openxmlformats.org/officeDocument/2006/relationships/image" Target="../media/image4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7.jpg"/><Relationship Id="rId4" Type="http://schemas.openxmlformats.org/officeDocument/2006/relationships/image" Target="../media/image36.png"/><Relationship Id="rId11" Type="http://schemas.openxmlformats.org/officeDocument/2006/relationships/image" Target="../media/image48.png"/><Relationship Id="rId10" Type="http://schemas.openxmlformats.org/officeDocument/2006/relationships/image" Target="../media/image37.png"/><Relationship Id="rId9"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61.png"/><Relationship Id="rId7" Type="http://schemas.openxmlformats.org/officeDocument/2006/relationships/image" Target="../media/image45.png"/><Relationship Id="rId8" Type="http://schemas.openxmlformats.org/officeDocument/2006/relationships/image" Target="../media/image4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jpg"/><Relationship Id="rId4" Type="http://schemas.openxmlformats.org/officeDocument/2006/relationships/image" Target="../media/image52.png"/><Relationship Id="rId5"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jpg"/><Relationship Id="rId4" Type="http://schemas.openxmlformats.org/officeDocument/2006/relationships/image" Target="../media/image49.jpg"/><Relationship Id="rId5" Type="http://schemas.openxmlformats.org/officeDocument/2006/relationships/image" Target="../media/image50.jpg"/><Relationship Id="rId6" Type="http://schemas.openxmlformats.org/officeDocument/2006/relationships/image" Target="../media/image64.jpg"/><Relationship Id="rId7" Type="http://schemas.openxmlformats.org/officeDocument/2006/relationships/image" Target="../media/image59.jpg"/><Relationship Id="rId8" Type="http://schemas.openxmlformats.org/officeDocument/2006/relationships/image" Target="../media/image5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7.jpg"/><Relationship Id="rId4" Type="http://schemas.openxmlformats.org/officeDocument/2006/relationships/image" Target="../media/image51.jpg"/><Relationship Id="rId5" Type="http://schemas.openxmlformats.org/officeDocument/2006/relationships/image" Target="../media/image5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7.jpg"/><Relationship Id="rId4" Type="http://schemas.openxmlformats.org/officeDocument/2006/relationships/image" Target="../media/image56.jpg"/><Relationship Id="rId5" Type="http://schemas.openxmlformats.org/officeDocument/2006/relationships/image" Target="../media/image66.jpg"/><Relationship Id="rId6" Type="http://schemas.openxmlformats.org/officeDocument/2006/relationships/image" Target="../media/image58.jpg"/><Relationship Id="rId7" Type="http://schemas.openxmlformats.org/officeDocument/2006/relationships/image" Target="../media/image6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jpg"/><Relationship Id="rId4" Type="http://schemas.openxmlformats.org/officeDocument/2006/relationships/image" Target="../media/image6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jpg"/><Relationship Id="rId4" Type="http://schemas.openxmlformats.org/officeDocument/2006/relationships/image" Target="../media/image6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7.jpg"/><Relationship Id="rId4" Type="http://schemas.openxmlformats.org/officeDocument/2006/relationships/image" Target="../media/image63.jpg"/><Relationship Id="rId5" Type="http://schemas.openxmlformats.org/officeDocument/2006/relationships/image" Target="../media/image6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694207" y="2376011"/>
            <a:ext cx="7755600" cy="1668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sz="4200">
                <a:latin typeface="Times New Roman"/>
                <a:ea typeface="Times New Roman"/>
                <a:cs typeface="Times New Roman"/>
                <a:sym typeface="Times New Roman"/>
              </a:rPr>
              <a:t>21AS64D2</a:t>
            </a:r>
            <a:endParaRPr sz="4200">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rPr lang="en" sz="4200">
                <a:latin typeface="Times New Roman"/>
                <a:ea typeface="Times New Roman"/>
                <a:cs typeface="Times New Roman"/>
                <a:sym typeface="Times New Roman"/>
              </a:rPr>
              <a:t>Vibration Engineering</a:t>
            </a:r>
            <a:endParaRPr sz="4200">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rPr lang="en" sz="4200">
                <a:latin typeface="Times New Roman"/>
                <a:ea typeface="Times New Roman"/>
                <a:cs typeface="Times New Roman"/>
                <a:sym typeface="Times New Roman"/>
              </a:rPr>
              <a:t>Unit - 5 </a:t>
            </a:r>
            <a:endParaRPr sz="4200">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rPr lang="en" sz="4200">
                <a:latin typeface="Times New Roman"/>
                <a:ea typeface="Times New Roman"/>
                <a:cs typeface="Times New Roman"/>
                <a:sym typeface="Times New Roman"/>
              </a:rPr>
              <a:t>Multi Degree of Freedom System</a:t>
            </a:r>
            <a:endParaRPr sz="4200">
              <a:latin typeface="Times New Roman"/>
              <a:ea typeface="Times New Roman"/>
              <a:cs typeface="Times New Roman"/>
              <a:sym typeface="Times New Roman"/>
            </a:endParaRPr>
          </a:p>
          <a:p>
            <a:pPr indent="0" lvl="0" marL="0" rtl="0" algn="ctr">
              <a:lnSpc>
                <a:spcPct val="100000"/>
              </a:lnSpc>
              <a:spcBef>
                <a:spcPts val="0"/>
              </a:spcBef>
              <a:spcAft>
                <a:spcPts val="0"/>
              </a:spcAft>
              <a:buSzPts val="5200"/>
              <a:buNone/>
            </a:pPr>
            <a:r>
              <a:rPr lang="en" sz="4200">
                <a:latin typeface="Times New Roman"/>
                <a:ea typeface="Times New Roman"/>
                <a:cs typeface="Times New Roman"/>
                <a:sym typeface="Times New Roman"/>
              </a:rPr>
              <a:t>Numerical methods</a:t>
            </a:r>
            <a:endParaRPr sz="42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ph idx="1" type="body"/>
          </p:nvPr>
        </p:nvSpPr>
        <p:spPr>
          <a:xfrm>
            <a:off x="146756" y="968910"/>
            <a:ext cx="8884500" cy="4010100"/>
          </a:xfrm>
          <a:prstGeom prst="rect">
            <a:avLst/>
          </a:prstGeom>
          <a:noFill/>
          <a:ln>
            <a:noFill/>
          </a:ln>
        </p:spPr>
        <p:txBody>
          <a:bodyPr anchorCtr="0" anchor="t" bIns="91425" lIns="91425" spcFirstLastPara="1" rIns="91425" wrap="square" tIns="91425">
            <a:noAutofit/>
          </a:bodyPr>
          <a:lstStyle/>
          <a:p>
            <a:pPr indent="-171450" lvl="0" marL="285750" rtl="0" algn="l">
              <a:lnSpc>
                <a:spcPct val="115000"/>
              </a:lnSpc>
              <a:spcBef>
                <a:spcPts val="0"/>
              </a:spcBef>
              <a:spcAft>
                <a:spcPts val="0"/>
              </a:spcAft>
              <a:buSzPts val="1800"/>
              <a:buNone/>
            </a:pPr>
            <a:r>
              <a:t/>
            </a:r>
            <a:endParaRPr b="1">
              <a:latin typeface="Times New Roman"/>
              <a:ea typeface="Times New Roman"/>
              <a:cs typeface="Times New Roman"/>
              <a:sym typeface="Times New Roman"/>
            </a:endParaRPr>
          </a:p>
          <a:p>
            <a:pPr indent="-171450" lvl="0" marL="285750" rtl="0" algn="l">
              <a:lnSpc>
                <a:spcPct val="115000"/>
              </a:lnSpc>
              <a:spcBef>
                <a:spcPts val="1200"/>
              </a:spcBef>
              <a:spcAft>
                <a:spcPts val="1200"/>
              </a:spcAft>
              <a:buSzPts val="1800"/>
              <a:buNone/>
            </a:pPr>
            <a:r>
              <a:t/>
            </a:r>
            <a:endParaRPr>
              <a:latin typeface="Times New Roman"/>
              <a:ea typeface="Times New Roman"/>
              <a:cs typeface="Times New Roman"/>
              <a:sym typeface="Times New Roman"/>
            </a:endParaRPr>
          </a:p>
        </p:txBody>
      </p:sp>
      <p:sp>
        <p:nvSpPr>
          <p:cNvPr id="60" name="Google Shape;60;p14"/>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 coefficients</a:t>
            </a:r>
            <a:endParaRPr sz="2400"/>
          </a:p>
        </p:txBody>
      </p:sp>
      <p:sp>
        <p:nvSpPr>
          <p:cNvPr id="61" name="Google Shape;61;p14"/>
          <p:cNvSpPr txBox="1"/>
          <p:nvPr/>
        </p:nvSpPr>
        <p:spPr>
          <a:xfrm>
            <a:off x="469775" y="1157025"/>
            <a:ext cx="8307900" cy="4010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Influence</a:t>
            </a:r>
            <a:r>
              <a:rPr lang="en" sz="1800">
                <a:solidFill>
                  <a:schemeClr val="dk2"/>
                </a:solidFill>
              </a:rPr>
              <a:t> coefficients are defined as the influence of unit displacement at one point on the forces at various points of a multi-DOF system.</a:t>
            </a:r>
            <a:endParaRPr sz="1800">
              <a:solidFill>
                <a:schemeClr val="dk2"/>
              </a:solidFill>
            </a:endParaRPr>
          </a:p>
          <a:p>
            <a:pPr indent="0" lvl="0" marL="457200" rtl="0" algn="l">
              <a:spcBef>
                <a:spcPts val="0"/>
              </a:spcBef>
              <a:spcAft>
                <a:spcPts val="0"/>
              </a:spcAft>
              <a:buNone/>
            </a:pPr>
            <a:r>
              <a:rPr lang="en" sz="1800">
                <a:solidFill>
                  <a:schemeClr val="dk2"/>
                </a:solidFill>
              </a:rPr>
              <a:t>OR</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It is the influence of unit Force at one point on the displacements at various points of a multi-DOF system.</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For a multi degree of freedom system , the equations of motions are written in </a:t>
            </a:r>
            <a:r>
              <a:rPr lang="en" sz="1800">
                <a:solidFill>
                  <a:schemeClr val="dk2"/>
                </a:solidFill>
              </a:rPr>
              <a:t>influence</a:t>
            </a:r>
            <a:r>
              <a:rPr lang="en" sz="1800">
                <a:solidFill>
                  <a:schemeClr val="dk2"/>
                </a:solidFill>
              </a:rPr>
              <a:t> coefficients </a:t>
            </a:r>
            <a:endParaRPr sz="1800">
              <a:solidFill>
                <a:schemeClr val="dk2"/>
              </a:solidFill>
            </a:endParaRPr>
          </a:p>
          <a:p>
            <a:pPr indent="0" lvl="0" marL="914400" rtl="0" algn="l">
              <a:spcBef>
                <a:spcPts val="0"/>
              </a:spcBef>
              <a:spcAft>
                <a:spcPts val="0"/>
              </a:spcAft>
              <a:buNone/>
            </a:pPr>
            <a:r>
              <a:t/>
            </a:r>
            <a:endParaRPr sz="1800">
              <a:solidFill>
                <a:schemeClr val="dk2"/>
              </a:solidFill>
            </a:endParaRPr>
          </a:p>
        </p:txBody>
      </p:sp>
      <p:pic>
        <p:nvPicPr>
          <p:cNvPr id="62" name="Google Shape;62;p14"/>
          <p:cNvPicPr preferRelativeResize="0"/>
          <p:nvPr/>
        </p:nvPicPr>
        <p:blipFill>
          <a:blip r:embed="rId4">
            <a:alphaModFix/>
          </a:blip>
          <a:stretch>
            <a:fillRect/>
          </a:stretch>
        </p:blipFill>
        <p:spPr>
          <a:xfrm>
            <a:off x="1041738" y="3500900"/>
            <a:ext cx="2828925" cy="533400"/>
          </a:xfrm>
          <a:prstGeom prst="rect">
            <a:avLst/>
          </a:prstGeom>
          <a:noFill/>
          <a:ln>
            <a:noFill/>
          </a:ln>
        </p:spPr>
      </p:pic>
      <p:pic>
        <p:nvPicPr>
          <p:cNvPr id="63" name="Google Shape;63;p14"/>
          <p:cNvPicPr preferRelativeResize="0"/>
          <p:nvPr/>
        </p:nvPicPr>
        <p:blipFill>
          <a:blip r:embed="rId5">
            <a:alphaModFix/>
          </a:blip>
          <a:stretch>
            <a:fillRect/>
          </a:stretch>
        </p:blipFill>
        <p:spPr>
          <a:xfrm>
            <a:off x="4572000" y="3108750"/>
            <a:ext cx="2753575" cy="17598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 name="Shape 67"/>
        <p:cNvGrpSpPr/>
        <p:nvPr/>
      </p:nvGrpSpPr>
      <p:grpSpPr>
        <a:xfrm>
          <a:off x="0" y="0"/>
          <a:ext cx="0" cy="0"/>
          <a:chOff x="0" y="0"/>
          <a:chExt cx="0" cy="0"/>
        </a:xfrm>
      </p:grpSpPr>
      <p:sp>
        <p:nvSpPr>
          <p:cNvPr id="68" name="Google Shape;68;p15"/>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a:t>
            </a:r>
            <a:r>
              <a:rPr lang="en" sz="2400"/>
              <a:t> coefficients</a:t>
            </a:r>
            <a:endParaRPr sz="2400"/>
          </a:p>
        </p:txBody>
      </p:sp>
      <p:sp>
        <p:nvSpPr>
          <p:cNvPr id="69" name="Google Shape;69;p15"/>
          <p:cNvSpPr txBox="1"/>
          <p:nvPr>
            <p:ph idx="1" type="body"/>
          </p:nvPr>
        </p:nvSpPr>
        <p:spPr>
          <a:xfrm>
            <a:off x="146756" y="968910"/>
            <a:ext cx="8884500" cy="4010100"/>
          </a:xfrm>
          <a:prstGeom prst="rect">
            <a:avLst/>
          </a:prstGeom>
          <a:noFill/>
          <a:ln>
            <a:noFill/>
          </a:ln>
        </p:spPr>
        <p:txBody>
          <a:bodyPr anchorCtr="0" anchor="t" bIns="91425" lIns="91425" spcFirstLastPara="1" rIns="91425" wrap="square" tIns="91425">
            <a:noAutofit/>
          </a:bodyPr>
          <a:lstStyle/>
          <a:p>
            <a:pPr indent="-171450" lvl="0" marL="285750" rtl="0" algn="l">
              <a:lnSpc>
                <a:spcPct val="115000"/>
              </a:lnSpc>
              <a:spcBef>
                <a:spcPts val="0"/>
              </a:spcBef>
              <a:spcAft>
                <a:spcPts val="0"/>
              </a:spcAft>
              <a:buSzPts val="1800"/>
              <a:buNone/>
            </a:pPr>
            <a:r>
              <a:t/>
            </a:r>
            <a:endParaRPr b="1">
              <a:latin typeface="Times New Roman"/>
              <a:ea typeface="Times New Roman"/>
              <a:cs typeface="Times New Roman"/>
              <a:sym typeface="Times New Roman"/>
            </a:endParaRPr>
          </a:p>
          <a:p>
            <a:pPr indent="-171450" lvl="0" marL="28575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latin typeface="Times New Roman"/>
                <a:ea typeface="Times New Roman"/>
                <a:cs typeface="Times New Roman"/>
                <a:sym typeface="Times New Roman"/>
              </a:rPr>
              <a:t>             Mass/ inertia matrix 					    	     stiffness influence coefficients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latin typeface="Times New Roman"/>
                <a:ea typeface="Times New Roman"/>
                <a:cs typeface="Times New Roman"/>
                <a:sym typeface="Times New Roman"/>
              </a:rPr>
              <a:t>	      Matrix of flexibility influence coefficients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latin typeface="Times New Roman"/>
                <a:ea typeface="Times New Roman"/>
                <a:cs typeface="Times New Roman"/>
                <a:sym typeface="Times New Roman"/>
              </a:rPr>
              <a:t>	      Matrix of flexibility mass/inertia coefficients		</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a:latin typeface="Times New Roman"/>
              <a:ea typeface="Times New Roman"/>
              <a:cs typeface="Times New Roman"/>
              <a:sym typeface="Times New Roman"/>
            </a:endParaRPr>
          </a:p>
        </p:txBody>
      </p:sp>
      <p:pic>
        <p:nvPicPr>
          <p:cNvPr id="70" name="Google Shape;70;p15"/>
          <p:cNvPicPr preferRelativeResize="0"/>
          <p:nvPr/>
        </p:nvPicPr>
        <p:blipFill>
          <a:blip r:embed="rId4">
            <a:alphaModFix/>
          </a:blip>
          <a:stretch>
            <a:fillRect/>
          </a:stretch>
        </p:blipFill>
        <p:spPr>
          <a:xfrm>
            <a:off x="2954400" y="968900"/>
            <a:ext cx="2828925" cy="533400"/>
          </a:xfrm>
          <a:prstGeom prst="rect">
            <a:avLst/>
          </a:prstGeom>
          <a:noFill/>
          <a:ln>
            <a:noFill/>
          </a:ln>
        </p:spPr>
      </p:pic>
      <p:pic>
        <p:nvPicPr>
          <p:cNvPr id="71" name="Google Shape;71;p15"/>
          <p:cNvPicPr preferRelativeResize="0"/>
          <p:nvPr/>
        </p:nvPicPr>
        <p:blipFill>
          <a:blip r:embed="rId5">
            <a:alphaModFix/>
          </a:blip>
          <a:stretch>
            <a:fillRect/>
          </a:stretch>
        </p:blipFill>
        <p:spPr>
          <a:xfrm>
            <a:off x="244400" y="1863450"/>
            <a:ext cx="542925" cy="485775"/>
          </a:xfrm>
          <a:prstGeom prst="rect">
            <a:avLst/>
          </a:prstGeom>
          <a:noFill/>
          <a:ln>
            <a:noFill/>
          </a:ln>
        </p:spPr>
      </p:pic>
      <p:pic>
        <p:nvPicPr>
          <p:cNvPr id="72" name="Google Shape;72;p15"/>
          <p:cNvPicPr preferRelativeResize="0"/>
          <p:nvPr/>
        </p:nvPicPr>
        <p:blipFill>
          <a:blip r:embed="rId6">
            <a:alphaModFix/>
          </a:blip>
          <a:stretch>
            <a:fillRect/>
          </a:stretch>
        </p:blipFill>
        <p:spPr>
          <a:xfrm>
            <a:off x="4991175" y="1858688"/>
            <a:ext cx="390525" cy="495300"/>
          </a:xfrm>
          <a:prstGeom prst="rect">
            <a:avLst/>
          </a:prstGeom>
          <a:noFill/>
          <a:ln>
            <a:noFill/>
          </a:ln>
        </p:spPr>
      </p:pic>
      <p:pic>
        <p:nvPicPr>
          <p:cNvPr id="73" name="Google Shape;73;p15"/>
          <p:cNvPicPr preferRelativeResize="0"/>
          <p:nvPr/>
        </p:nvPicPr>
        <p:blipFill>
          <a:blip r:embed="rId7">
            <a:alphaModFix/>
          </a:blip>
          <a:stretch>
            <a:fillRect/>
          </a:stretch>
        </p:blipFill>
        <p:spPr>
          <a:xfrm>
            <a:off x="354800" y="2479774"/>
            <a:ext cx="542925" cy="461491"/>
          </a:xfrm>
          <a:prstGeom prst="rect">
            <a:avLst/>
          </a:prstGeom>
          <a:noFill/>
          <a:ln>
            <a:noFill/>
          </a:ln>
        </p:spPr>
      </p:pic>
      <p:pic>
        <p:nvPicPr>
          <p:cNvPr id="74" name="Google Shape;74;p15"/>
          <p:cNvPicPr preferRelativeResize="0"/>
          <p:nvPr/>
        </p:nvPicPr>
        <p:blipFill>
          <a:blip r:embed="rId8">
            <a:alphaModFix/>
          </a:blip>
          <a:stretch>
            <a:fillRect/>
          </a:stretch>
        </p:blipFill>
        <p:spPr>
          <a:xfrm>
            <a:off x="196775" y="3390500"/>
            <a:ext cx="638175" cy="4476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id="79" name="Google Shape;79;p16"/>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 coefficients</a:t>
            </a:r>
            <a:endParaRPr sz="2400"/>
          </a:p>
        </p:txBody>
      </p:sp>
      <p:sp>
        <p:nvSpPr>
          <p:cNvPr id="80" name="Google Shape;80;p16"/>
          <p:cNvSpPr txBox="1"/>
          <p:nvPr/>
        </p:nvSpPr>
        <p:spPr>
          <a:xfrm>
            <a:off x="408450" y="968850"/>
            <a:ext cx="22629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- 1</a:t>
            </a:r>
            <a:endParaRPr sz="1800">
              <a:solidFill>
                <a:schemeClr val="dk2"/>
              </a:solidFill>
            </a:endParaRPr>
          </a:p>
        </p:txBody>
      </p:sp>
      <p:pic>
        <p:nvPicPr>
          <p:cNvPr id="81" name="Google Shape;81;p16"/>
          <p:cNvPicPr preferRelativeResize="0"/>
          <p:nvPr/>
        </p:nvPicPr>
        <p:blipFill>
          <a:blip r:embed="rId4">
            <a:alphaModFix/>
          </a:blip>
          <a:stretch>
            <a:fillRect/>
          </a:stretch>
        </p:blipFill>
        <p:spPr>
          <a:xfrm>
            <a:off x="2290200" y="1053925"/>
            <a:ext cx="5882349" cy="3648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 name="Shape 85"/>
        <p:cNvGrpSpPr/>
        <p:nvPr/>
      </p:nvGrpSpPr>
      <p:grpSpPr>
        <a:xfrm>
          <a:off x="0" y="0"/>
          <a:ext cx="0" cy="0"/>
          <a:chOff x="0" y="0"/>
          <a:chExt cx="0" cy="0"/>
        </a:xfrm>
      </p:grpSpPr>
      <p:sp>
        <p:nvSpPr>
          <p:cNvPr id="86" name="Google Shape;86;p17"/>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 coefficients</a:t>
            </a:r>
            <a:endParaRPr sz="2400"/>
          </a:p>
        </p:txBody>
      </p:sp>
      <p:sp>
        <p:nvSpPr>
          <p:cNvPr id="87" name="Google Shape;87;p17"/>
          <p:cNvSpPr txBox="1"/>
          <p:nvPr/>
        </p:nvSpPr>
        <p:spPr>
          <a:xfrm>
            <a:off x="408450" y="968850"/>
            <a:ext cx="8426400" cy="384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- 1 Obtain the stiffness coefficients of the system</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Step 01 - apply unit deflection x1 = 1 (x2 =0, x3=0) at m1.</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force equilibrium </a:t>
            </a:r>
            <a:r>
              <a:rPr lang="en" sz="1800">
                <a:solidFill>
                  <a:schemeClr val="dk2"/>
                </a:solidFill>
              </a:rPr>
              <a:t>equations</a:t>
            </a:r>
            <a:r>
              <a:rPr lang="en" sz="1800">
                <a:solidFill>
                  <a:schemeClr val="dk2"/>
                </a:solidFill>
              </a:rPr>
              <a:t> are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s</a:t>
            </a:r>
            <a:r>
              <a:rPr lang="en" sz="1800">
                <a:solidFill>
                  <a:schemeClr val="dk2"/>
                </a:solidFill>
              </a:rPr>
              <a:t>imilarly , apply unit </a:t>
            </a:r>
            <a:r>
              <a:rPr lang="en" sz="1800">
                <a:solidFill>
                  <a:schemeClr val="dk2"/>
                </a:solidFill>
              </a:rPr>
              <a:t>deflection</a:t>
            </a:r>
            <a:r>
              <a:rPr lang="en" sz="1800">
                <a:solidFill>
                  <a:schemeClr val="dk2"/>
                </a:solidFill>
              </a:rPr>
              <a:t> at m2 (x1=0, x2=1, x3=0) and m3 (x1=0. x2=0, x3=1), the </a:t>
            </a:r>
            <a:r>
              <a:rPr lang="en" sz="1800">
                <a:solidFill>
                  <a:schemeClr val="dk2"/>
                </a:solidFill>
              </a:rPr>
              <a:t>equations</a:t>
            </a:r>
            <a:r>
              <a:rPr lang="en" sz="1800">
                <a:solidFill>
                  <a:schemeClr val="dk2"/>
                </a:solidFill>
              </a:rPr>
              <a:t> are </a:t>
            </a:r>
            <a:endParaRPr sz="1800">
              <a:solidFill>
                <a:schemeClr val="dk2"/>
              </a:solidFill>
            </a:endParaRPr>
          </a:p>
        </p:txBody>
      </p:sp>
      <p:pic>
        <p:nvPicPr>
          <p:cNvPr id="88" name="Google Shape;88;p17"/>
          <p:cNvPicPr preferRelativeResize="0"/>
          <p:nvPr/>
        </p:nvPicPr>
        <p:blipFill>
          <a:blip r:embed="rId4">
            <a:alphaModFix/>
          </a:blip>
          <a:stretch>
            <a:fillRect/>
          </a:stretch>
        </p:blipFill>
        <p:spPr>
          <a:xfrm>
            <a:off x="2552949" y="2029674"/>
            <a:ext cx="1627175" cy="1155050"/>
          </a:xfrm>
          <a:prstGeom prst="rect">
            <a:avLst/>
          </a:prstGeom>
          <a:noFill/>
          <a:ln>
            <a:noFill/>
          </a:ln>
        </p:spPr>
      </p:pic>
      <p:pic>
        <p:nvPicPr>
          <p:cNvPr id="89" name="Google Shape;89;p17"/>
          <p:cNvPicPr preferRelativeResize="0"/>
          <p:nvPr/>
        </p:nvPicPr>
        <p:blipFill>
          <a:blip r:embed="rId5">
            <a:alphaModFix/>
          </a:blip>
          <a:stretch>
            <a:fillRect/>
          </a:stretch>
        </p:blipFill>
        <p:spPr>
          <a:xfrm>
            <a:off x="925773" y="3837223"/>
            <a:ext cx="1627175" cy="1067124"/>
          </a:xfrm>
          <a:prstGeom prst="rect">
            <a:avLst/>
          </a:prstGeom>
          <a:noFill/>
          <a:ln>
            <a:noFill/>
          </a:ln>
        </p:spPr>
      </p:pic>
      <p:pic>
        <p:nvPicPr>
          <p:cNvPr id="90" name="Google Shape;90;p17"/>
          <p:cNvPicPr preferRelativeResize="0"/>
          <p:nvPr/>
        </p:nvPicPr>
        <p:blipFill>
          <a:blip r:embed="rId6">
            <a:alphaModFix/>
          </a:blip>
          <a:stretch>
            <a:fillRect/>
          </a:stretch>
        </p:blipFill>
        <p:spPr>
          <a:xfrm>
            <a:off x="4723225" y="3749299"/>
            <a:ext cx="1290938" cy="115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18"/>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 coefficients</a:t>
            </a:r>
            <a:endParaRPr sz="2400"/>
          </a:p>
        </p:txBody>
      </p:sp>
      <p:sp>
        <p:nvSpPr>
          <p:cNvPr id="96" name="Google Shape;96;p18"/>
          <p:cNvSpPr txBox="1"/>
          <p:nvPr/>
        </p:nvSpPr>
        <p:spPr>
          <a:xfrm>
            <a:off x="408450" y="968850"/>
            <a:ext cx="8426400" cy="38406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The </a:t>
            </a:r>
            <a:r>
              <a:rPr lang="en" sz="1800">
                <a:solidFill>
                  <a:schemeClr val="dk2"/>
                </a:solidFill>
              </a:rPr>
              <a:t>influence stiffness matrix is given by </a:t>
            </a:r>
            <a:r>
              <a:rPr lang="en" sz="1800">
                <a:solidFill>
                  <a:schemeClr val="dk2"/>
                </a:solidFill>
              </a:rPr>
              <a:t>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45720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 </a:t>
            </a:r>
            <a:r>
              <a:rPr lang="en" sz="1800">
                <a:solidFill>
                  <a:schemeClr val="dk2"/>
                </a:solidFill>
              </a:rPr>
              <a:t>flexibility</a:t>
            </a:r>
            <a:r>
              <a:rPr lang="en" sz="1800">
                <a:solidFill>
                  <a:schemeClr val="dk2"/>
                </a:solidFill>
              </a:rPr>
              <a:t> </a:t>
            </a:r>
            <a:r>
              <a:rPr lang="en" sz="1800">
                <a:solidFill>
                  <a:schemeClr val="dk2"/>
                </a:solidFill>
              </a:rPr>
              <a:t>influence</a:t>
            </a:r>
            <a:r>
              <a:rPr lang="en" sz="1800">
                <a:solidFill>
                  <a:schemeClr val="dk2"/>
                </a:solidFill>
              </a:rPr>
              <a:t> matrix is </a:t>
            </a:r>
            <a:r>
              <a:rPr lang="en" sz="1800">
                <a:solidFill>
                  <a:schemeClr val="dk2"/>
                </a:solidFill>
              </a:rPr>
              <a:t>given</a:t>
            </a:r>
            <a:r>
              <a:rPr lang="en" sz="1800">
                <a:solidFill>
                  <a:schemeClr val="dk2"/>
                </a:solidFill>
              </a:rPr>
              <a:t> by</a:t>
            </a:r>
            <a:endParaRPr sz="1800">
              <a:solidFill>
                <a:schemeClr val="dk2"/>
              </a:solidFill>
            </a:endParaRPr>
          </a:p>
          <a:p>
            <a:pPr indent="0" lvl="0" marL="457200" rtl="0" algn="l">
              <a:spcBef>
                <a:spcPts val="0"/>
              </a:spcBef>
              <a:spcAft>
                <a:spcPts val="0"/>
              </a:spcAft>
              <a:buNone/>
            </a:pPr>
            <a:r>
              <a:t/>
            </a:r>
            <a:endParaRPr sz="1800">
              <a:solidFill>
                <a:schemeClr val="dk2"/>
              </a:solidFill>
            </a:endParaRPr>
          </a:p>
        </p:txBody>
      </p:sp>
      <p:pic>
        <p:nvPicPr>
          <p:cNvPr id="97" name="Google Shape;97;p18"/>
          <p:cNvPicPr preferRelativeResize="0"/>
          <p:nvPr/>
        </p:nvPicPr>
        <p:blipFill>
          <a:blip r:embed="rId4">
            <a:alphaModFix/>
          </a:blip>
          <a:stretch>
            <a:fillRect/>
          </a:stretch>
        </p:blipFill>
        <p:spPr>
          <a:xfrm>
            <a:off x="5449647" y="840047"/>
            <a:ext cx="3333275" cy="1837875"/>
          </a:xfrm>
          <a:prstGeom prst="rect">
            <a:avLst/>
          </a:prstGeom>
          <a:noFill/>
          <a:ln>
            <a:noFill/>
          </a:ln>
        </p:spPr>
      </p:pic>
      <p:pic>
        <p:nvPicPr>
          <p:cNvPr id="98" name="Google Shape;98;p18"/>
          <p:cNvPicPr preferRelativeResize="0"/>
          <p:nvPr/>
        </p:nvPicPr>
        <p:blipFill>
          <a:blip r:embed="rId5">
            <a:alphaModFix/>
          </a:blip>
          <a:stretch>
            <a:fillRect/>
          </a:stretch>
        </p:blipFill>
        <p:spPr>
          <a:xfrm>
            <a:off x="5268862" y="3007900"/>
            <a:ext cx="3694851" cy="1988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 name="Shape 102"/>
        <p:cNvGrpSpPr/>
        <p:nvPr/>
      </p:nvGrpSpPr>
      <p:grpSpPr>
        <a:xfrm>
          <a:off x="0" y="0"/>
          <a:ext cx="0" cy="0"/>
          <a:chOff x="0" y="0"/>
          <a:chExt cx="0" cy="0"/>
        </a:xfrm>
      </p:grpSpPr>
      <p:sp>
        <p:nvSpPr>
          <p:cNvPr id="103" name="Google Shape;103;p19"/>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 coefficients</a:t>
            </a:r>
            <a:endParaRPr sz="2400"/>
          </a:p>
        </p:txBody>
      </p:sp>
      <p:sp>
        <p:nvSpPr>
          <p:cNvPr id="104" name="Google Shape;104;p19"/>
          <p:cNvSpPr txBox="1"/>
          <p:nvPr/>
        </p:nvSpPr>
        <p:spPr>
          <a:xfrm>
            <a:off x="408450" y="968850"/>
            <a:ext cx="8426400" cy="3840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chemeClr val="dk2"/>
              </a:solidFill>
            </a:endParaRPr>
          </a:p>
        </p:txBody>
      </p:sp>
      <p:pic>
        <p:nvPicPr>
          <p:cNvPr id="105" name="Google Shape;105;p19"/>
          <p:cNvPicPr preferRelativeResize="0"/>
          <p:nvPr/>
        </p:nvPicPr>
        <p:blipFill>
          <a:blip r:embed="rId4">
            <a:alphaModFix/>
          </a:blip>
          <a:stretch>
            <a:fillRect/>
          </a:stretch>
        </p:blipFill>
        <p:spPr>
          <a:xfrm>
            <a:off x="2328925" y="1380450"/>
            <a:ext cx="5638800" cy="3429000"/>
          </a:xfrm>
          <a:prstGeom prst="rect">
            <a:avLst/>
          </a:prstGeom>
          <a:noFill/>
          <a:ln>
            <a:noFill/>
          </a:ln>
        </p:spPr>
      </p:pic>
      <p:sp>
        <p:nvSpPr>
          <p:cNvPr id="106" name="Google Shape;106;p19"/>
          <p:cNvSpPr txBox="1"/>
          <p:nvPr/>
        </p:nvSpPr>
        <p:spPr>
          <a:xfrm>
            <a:off x="408450" y="968850"/>
            <a:ext cx="22629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- 2</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 name="Shape 110"/>
        <p:cNvGrpSpPr/>
        <p:nvPr/>
      </p:nvGrpSpPr>
      <p:grpSpPr>
        <a:xfrm>
          <a:off x="0" y="0"/>
          <a:ext cx="0" cy="0"/>
          <a:chOff x="0" y="0"/>
          <a:chExt cx="0" cy="0"/>
        </a:xfrm>
      </p:grpSpPr>
      <p:sp>
        <p:nvSpPr>
          <p:cNvPr id="111" name="Google Shape;111;p20"/>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 coefficients</a:t>
            </a:r>
            <a:endParaRPr sz="2400"/>
          </a:p>
        </p:txBody>
      </p:sp>
      <p:sp>
        <p:nvSpPr>
          <p:cNvPr id="112" name="Google Shape;112;p20"/>
          <p:cNvSpPr txBox="1"/>
          <p:nvPr/>
        </p:nvSpPr>
        <p:spPr>
          <a:xfrm>
            <a:off x="408450" y="968850"/>
            <a:ext cx="8426400" cy="3840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chemeClr val="dk2"/>
              </a:solidFill>
            </a:endParaRPr>
          </a:p>
        </p:txBody>
      </p:sp>
      <p:sp>
        <p:nvSpPr>
          <p:cNvPr id="113" name="Google Shape;113;p20"/>
          <p:cNvSpPr txBox="1"/>
          <p:nvPr/>
        </p:nvSpPr>
        <p:spPr>
          <a:xfrm>
            <a:off x="897800" y="784000"/>
            <a:ext cx="7792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- 2 Writing the force equations and finding elements of flexibility influence  matrix</a:t>
            </a:r>
            <a:endParaRPr sz="1800">
              <a:solidFill>
                <a:schemeClr val="dk2"/>
              </a:solidFill>
            </a:endParaRPr>
          </a:p>
        </p:txBody>
      </p:sp>
      <p:pic>
        <p:nvPicPr>
          <p:cNvPr id="114" name="Google Shape;114;p20"/>
          <p:cNvPicPr preferRelativeResize="0"/>
          <p:nvPr/>
        </p:nvPicPr>
        <p:blipFill>
          <a:blip r:embed="rId4">
            <a:alphaModFix/>
          </a:blip>
          <a:stretch>
            <a:fillRect/>
          </a:stretch>
        </p:blipFill>
        <p:spPr>
          <a:xfrm>
            <a:off x="2745499" y="1248525"/>
            <a:ext cx="5454373" cy="3840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21"/>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2400"/>
              <a:t>Influence coefficients</a:t>
            </a:r>
            <a:endParaRPr sz="2400"/>
          </a:p>
        </p:txBody>
      </p:sp>
      <p:sp>
        <p:nvSpPr>
          <p:cNvPr id="120" name="Google Shape;120;p21"/>
          <p:cNvSpPr txBox="1"/>
          <p:nvPr/>
        </p:nvSpPr>
        <p:spPr>
          <a:xfrm>
            <a:off x="408450" y="968850"/>
            <a:ext cx="8426400" cy="3840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t/>
            </a:r>
            <a:endParaRPr sz="1800">
              <a:solidFill>
                <a:schemeClr val="dk2"/>
              </a:solidFill>
            </a:endParaRPr>
          </a:p>
        </p:txBody>
      </p:sp>
      <p:sp>
        <p:nvSpPr>
          <p:cNvPr id="121" name="Google Shape;121;p21"/>
          <p:cNvSpPr txBox="1"/>
          <p:nvPr/>
        </p:nvSpPr>
        <p:spPr>
          <a:xfrm>
            <a:off x="897800" y="784000"/>
            <a:ext cx="7792800" cy="4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Example - 2 Writing flexibility infl</a:t>
            </a:r>
            <a:r>
              <a:rPr lang="en" sz="1800">
                <a:solidFill>
                  <a:schemeClr val="dk2"/>
                </a:solidFill>
              </a:rPr>
              <a:t>uence  matrix</a:t>
            </a:r>
            <a:endParaRPr sz="1800">
              <a:solidFill>
                <a:schemeClr val="dk2"/>
              </a:solidFill>
            </a:endParaRPr>
          </a:p>
        </p:txBody>
      </p:sp>
      <p:pic>
        <p:nvPicPr>
          <p:cNvPr id="122" name="Google Shape;122;p21"/>
          <p:cNvPicPr preferRelativeResize="0"/>
          <p:nvPr/>
        </p:nvPicPr>
        <p:blipFill>
          <a:blip r:embed="rId4">
            <a:alphaModFix/>
          </a:blip>
          <a:stretch>
            <a:fillRect/>
          </a:stretch>
        </p:blipFill>
        <p:spPr>
          <a:xfrm>
            <a:off x="597888" y="1291750"/>
            <a:ext cx="3076575" cy="1733550"/>
          </a:xfrm>
          <a:prstGeom prst="rect">
            <a:avLst/>
          </a:prstGeom>
          <a:noFill/>
          <a:ln>
            <a:noFill/>
          </a:ln>
        </p:spPr>
      </p:pic>
      <p:pic>
        <p:nvPicPr>
          <p:cNvPr id="123" name="Google Shape;123;p21"/>
          <p:cNvPicPr preferRelativeResize="0"/>
          <p:nvPr/>
        </p:nvPicPr>
        <p:blipFill>
          <a:blip r:embed="rId5">
            <a:alphaModFix/>
          </a:blip>
          <a:stretch>
            <a:fillRect/>
          </a:stretch>
        </p:blipFill>
        <p:spPr>
          <a:xfrm>
            <a:off x="4571988" y="1335800"/>
            <a:ext cx="3781425" cy="3581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7" name="Shape 127"/>
        <p:cNvGrpSpPr/>
        <p:nvPr/>
      </p:nvGrpSpPr>
      <p:grpSpPr>
        <a:xfrm>
          <a:off x="0" y="0"/>
          <a:ext cx="0" cy="0"/>
          <a:chOff x="0" y="0"/>
          <a:chExt cx="0" cy="0"/>
        </a:xfrm>
      </p:grpSpPr>
      <p:sp>
        <p:nvSpPr>
          <p:cNvPr id="128" name="Google Shape;128;p22"/>
          <p:cNvSpPr txBox="1"/>
          <p:nvPr>
            <p:ph idx="1" type="body"/>
          </p:nvPr>
        </p:nvSpPr>
        <p:spPr>
          <a:xfrm>
            <a:off x="146756" y="968910"/>
            <a:ext cx="8884500" cy="4010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Times New Roman"/>
              <a:buChar char="●"/>
            </a:pPr>
            <a:r>
              <a:rPr lang="en">
                <a:latin typeface="Times New Roman"/>
                <a:ea typeface="Times New Roman"/>
                <a:cs typeface="Times New Roman"/>
                <a:sym typeface="Times New Roman"/>
              </a:rPr>
              <a:t>Using this method one can obtain natural frequencies and modal vectors of a vibratory system having multi-degree freedom</a:t>
            </a:r>
            <a:endParaRPr>
              <a:latin typeface="Times New Roman"/>
              <a:ea typeface="Times New Roman"/>
              <a:cs typeface="Times New Roman"/>
              <a:sym typeface="Times New Roman"/>
            </a:endParaRPr>
          </a:p>
          <a:p>
            <a:pPr indent="-342900" lvl="0" marL="457200" rtl="0" algn="l">
              <a:lnSpc>
                <a:spcPct val="115000"/>
              </a:lnSpc>
              <a:spcBef>
                <a:spcPts val="0"/>
              </a:spcBef>
              <a:spcAft>
                <a:spcPts val="0"/>
              </a:spcAft>
              <a:buSzPts val="1800"/>
              <a:buFont typeface="Times New Roman"/>
              <a:buChar char="●"/>
            </a:pPr>
            <a:r>
              <a:rPr lang="en">
                <a:latin typeface="Times New Roman"/>
                <a:ea typeface="Times New Roman"/>
                <a:cs typeface="Times New Roman"/>
                <a:sym typeface="Times New Roman"/>
              </a:rPr>
              <a:t>Its required to have w1&lt;w2&lt;w3&lt;.....&lt;wn</a:t>
            </a:r>
            <a:endParaRPr>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a:latin typeface="Times New Roman"/>
                <a:ea typeface="Times New Roman"/>
                <a:cs typeface="Times New Roman"/>
                <a:sym typeface="Times New Roman"/>
              </a:rPr>
              <a:t>Equations of motion of a vibratory system having n DOF in matrix form is written as:</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
                <a:latin typeface="Times New Roman"/>
                <a:ea typeface="Times New Roman"/>
                <a:cs typeface="Times New Roman"/>
                <a:sym typeface="Times New Roman"/>
              </a:rPr>
              <a:t>                                                                                                           (eq1)</a:t>
            </a:r>
            <a:endParaRPr>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457200" rtl="0" algn="l">
              <a:lnSpc>
                <a:spcPct val="115000"/>
              </a:lnSpc>
              <a:spcBef>
                <a:spcPts val="1200"/>
              </a:spcBef>
              <a:spcAft>
                <a:spcPts val="0"/>
              </a:spcAft>
              <a:buNone/>
            </a:pPr>
            <a:r>
              <a:rPr lang="en">
                <a:latin typeface="Times New Roman"/>
                <a:ea typeface="Times New Roman"/>
                <a:cs typeface="Times New Roman"/>
                <a:sym typeface="Times New Roman"/>
              </a:rPr>
              <a:t>                                                                                                   (eq2)</a:t>
            </a:r>
            <a:endParaRPr>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rPr lang="en">
                <a:latin typeface="Times New Roman"/>
                <a:ea typeface="Times New Roman"/>
                <a:cs typeface="Times New Roman"/>
                <a:sym typeface="Times New Roman"/>
              </a:rPr>
              <a:t>Substituting eq2 in eq1 we get</a:t>
            </a:r>
            <a:endParaRPr>
              <a:latin typeface="Times New Roman"/>
              <a:ea typeface="Times New Roman"/>
              <a:cs typeface="Times New Roman"/>
              <a:sym typeface="Times New Roman"/>
            </a:endParaRPr>
          </a:p>
        </p:txBody>
      </p:sp>
      <p:sp>
        <p:nvSpPr>
          <p:cNvPr id="129" name="Google Shape;129;p22"/>
          <p:cNvSpPr txBox="1"/>
          <p:nvPr>
            <p:ph type="title"/>
          </p:nvPr>
        </p:nvSpPr>
        <p:spPr>
          <a:xfrm>
            <a:off x="1850050" y="315850"/>
            <a:ext cx="5973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Matrix Iteration Method</a:t>
            </a:r>
            <a:endParaRPr/>
          </a:p>
        </p:txBody>
      </p:sp>
      <p:pic>
        <p:nvPicPr>
          <p:cNvPr id="130" name="Google Shape;130;p22"/>
          <p:cNvPicPr preferRelativeResize="0"/>
          <p:nvPr/>
        </p:nvPicPr>
        <p:blipFill>
          <a:blip r:embed="rId4">
            <a:alphaModFix/>
          </a:blip>
          <a:stretch>
            <a:fillRect/>
          </a:stretch>
        </p:blipFill>
        <p:spPr>
          <a:xfrm>
            <a:off x="3522625" y="2473750"/>
            <a:ext cx="2628150" cy="681375"/>
          </a:xfrm>
          <a:prstGeom prst="rect">
            <a:avLst/>
          </a:prstGeom>
          <a:noFill/>
          <a:ln>
            <a:noFill/>
          </a:ln>
        </p:spPr>
      </p:pic>
      <p:pic>
        <p:nvPicPr>
          <p:cNvPr id="131" name="Google Shape;131;p22"/>
          <p:cNvPicPr preferRelativeResize="0"/>
          <p:nvPr/>
        </p:nvPicPr>
        <p:blipFill>
          <a:blip r:embed="rId5">
            <a:alphaModFix/>
          </a:blip>
          <a:stretch>
            <a:fillRect/>
          </a:stretch>
        </p:blipFill>
        <p:spPr>
          <a:xfrm>
            <a:off x="3714100" y="3456725"/>
            <a:ext cx="2436675" cy="624900"/>
          </a:xfrm>
          <a:prstGeom prst="rect">
            <a:avLst/>
          </a:prstGeom>
          <a:noFill/>
          <a:ln>
            <a:noFill/>
          </a:ln>
        </p:spPr>
      </p:pic>
      <p:pic>
        <p:nvPicPr>
          <p:cNvPr id="132" name="Google Shape;132;p22"/>
          <p:cNvPicPr preferRelativeResize="0"/>
          <p:nvPr/>
        </p:nvPicPr>
        <p:blipFill>
          <a:blip r:embed="rId6">
            <a:alphaModFix/>
          </a:blip>
          <a:stretch>
            <a:fillRect/>
          </a:stretch>
        </p:blipFill>
        <p:spPr>
          <a:xfrm>
            <a:off x="3387971" y="4383225"/>
            <a:ext cx="3088941" cy="528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23"/>
          <p:cNvSpPr txBox="1"/>
          <p:nvPr>
            <p:ph idx="1" type="body"/>
          </p:nvPr>
        </p:nvSpPr>
        <p:spPr>
          <a:xfrm>
            <a:off x="146756" y="968910"/>
            <a:ext cx="8884500" cy="401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For principal modes of oscillations, for rth mode,</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                                                                                                      eq3</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Where [D] is Dynamic matrix</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Eq3 converges first natural frequency and first modal vector</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Where [D1] is inverse dynamic matrix</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a:latin typeface="Times New Roman"/>
              <a:ea typeface="Times New Roman"/>
              <a:cs typeface="Times New Roman"/>
              <a:sym typeface="Times New Roman"/>
            </a:endParaRPr>
          </a:p>
        </p:txBody>
      </p:sp>
      <p:pic>
        <p:nvPicPr>
          <p:cNvPr id="138" name="Google Shape;138;p23"/>
          <p:cNvPicPr preferRelativeResize="0"/>
          <p:nvPr/>
        </p:nvPicPr>
        <p:blipFill>
          <a:blip r:embed="rId4">
            <a:alphaModFix/>
          </a:blip>
          <a:stretch>
            <a:fillRect/>
          </a:stretch>
        </p:blipFill>
        <p:spPr>
          <a:xfrm>
            <a:off x="3541175" y="1391602"/>
            <a:ext cx="2095500" cy="1504300"/>
          </a:xfrm>
          <a:prstGeom prst="rect">
            <a:avLst/>
          </a:prstGeom>
          <a:noFill/>
          <a:ln>
            <a:noFill/>
          </a:ln>
        </p:spPr>
      </p:pic>
      <p:sp>
        <p:nvSpPr>
          <p:cNvPr id="139" name="Google Shape;139;p23"/>
          <p:cNvSpPr txBox="1"/>
          <p:nvPr>
            <p:ph type="title"/>
          </p:nvPr>
        </p:nvSpPr>
        <p:spPr>
          <a:xfrm>
            <a:off x="1585350" y="130975"/>
            <a:ext cx="5973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Matrix Iteration Method</a:t>
            </a:r>
            <a:endParaRPr/>
          </a:p>
        </p:txBody>
      </p:sp>
      <p:pic>
        <p:nvPicPr>
          <p:cNvPr id="140" name="Google Shape;140;p23"/>
          <p:cNvPicPr preferRelativeResize="0"/>
          <p:nvPr/>
        </p:nvPicPr>
        <p:blipFill>
          <a:blip r:embed="rId5">
            <a:alphaModFix/>
          </a:blip>
          <a:stretch>
            <a:fillRect/>
          </a:stretch>
        </p:blipFill>
        <p:spPr>
          <a:xfrm>
            <a:off x="3873025" y="3744488"/>
            <a:ext cx="1676400" cy="6191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4" name="Shape 144"/>
        <p:cNvGrpSpPr/>
        <p:nvPr/>
      </p:nvGrpSpPr>
      <p:grpSpPr>
        <a:xfrm>
          <a:off x="0" y="0"/>
          <a:ext cx="0" cy="0"/>
          <a:chOff x="0" y="0"/>
          <a:chExt cx="0" cy="0"/>
        </a:xfrm>
      </p:grpSpPr>
      <p:sp>
        <p:nvSpPr>
          <p:cNvPr id="145" name="Google Shape;145;p24"/>
          <p:cNvSpPr txBox="1"/>
          <p:nvPr>
            <p:ph idx="1" type="body"/>
          </p:nvPr>
        </p:nvSpPr>
        <p:spPr>
          <a:xfrm>
            <a:off x="146756" y="968910"/>
            <a:ext cx="8884500" cy="401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Q1) </a:t>
            </a:r>
            <a:r>
              <a:rPr lang="en"/>
              <a:t>Find first natural frequency and modal vector of the system shown in the Fig using matrix iteration method. Use flexibility influence </a:t>
            </a:r>
            <a:r>
              <a:rPr lang="en"/>
              <a:t>co-efficients</a:t>
            </a: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Using influence </a:t>
            </a:r>
            <a:r>
              <a:rPr lang="en"/>
              <a:t>coefficients</a:t>
            </a:r>
            <a:r>
              <a:rPr lang="en"/>
              <a:t> find the stiffness matrix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1200"/>
              </a:spcBef>
              <a:spcAft>
                <a:spcPts val="0"/>
              </a:spcAft>
              <a:buClr>
                <a:schemeClr val="dk1"/>
              </a:buClr>
              <a:buSzPts val="1800"/>
              <a:buFont typeface="Arial"/>
              <a:buNone/>
            </a:pPr>
            <a:r>
              <a:rPr lang="en">
                <a:latin typeface="Times New Roman"/>
                <a:ea typeface="Times New Roman"/>
                <a:cs typeface="Times New Roman"/>
                <a:sym typeface="Times New Roman"/>
              </a:rPr>
              <a:t>First natural frequency and modal vector</a:t>
            </a:r>
            <a:endParaRPr>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t/>
            </a:r>
            <a:endParaRPr/>
          </a:p>
        </p:txBody>
      </p:sp>
      <p:sp>
        <p:nvSpPr>
          <p:cNvPr id="146" name="Google Shape;146;p24"/>
          <p:cNvSpPr txBox="1"/>
          <p:nvPr>
            <p:ph type="title"/>
          </p:nvPr>
        </p:nvSpPr>
        <p:spPr>
          <a:xfrm>
            <a:off x="1585350" y="130975"/>
            <a:ext cx="5973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Matrix Iteration Method</a:t>
            </a:r>
            <a:endParaRPr/>
          </a:p>
        </p:txBody>
      </p:sp>
      <p:pic>
        <p:nvPicPr>
          <p:cNvPr id="147" name="Google Shape;147;p24"/>
          <p:cNvPicPr preferRelativeResize="0"/>
          <p:nvPr/>
        </p:nvPicPr>
        <p:blipFill>
          <a:blip r:embed="rId4">
            <a:alphaModFix/>
          </a:blip>
          <a:stretch>
            <a:fillRect/>
          </a:stretch>
        </p:blipFill>
        <p:spPr>
          <a:xfrm>
            <a:off x="1514538" y="2490913"/>
            <a:ext cx="2143125" cy="828675"/>
          </a:xfrm>
          <a:prstGeom prst="rect">
            <a:avLst/>
          </a:prstGeom>
          <a:noFill/>
          <a:ln>
            <a:noFill/>
          </a:ln>
        </p:spPr>
      </p:pic>
      <p:pic>
        <p:nvPicPr>
          <p:cNvPr id="148" name="Google Shape;148;p24"/>
          <p:cNvPicPr preferRelativeResize="0"/>
          <p:nvPr/>
        </p:nvPicPr>
        <p:blipFill>
          <a:blip r:embed="rId5">
            <a:alphaModFix/>
          </a:blip>
          <a:stretch>
            <a:fillRect/>
          </a:stretch>
        </p:blipFill>
        <p:spPr>
          <a:xfrm>
            <a:off x="7148175" y="1382050"/>
            <a:ext cx="1675822" cy="3151175"/>
          </a:xfrm>
          <a:prstGeom prst="rect">
            <a:avLst/>
          </a:prstGeom>
          <a:noFill/>
          <a:ln>
            <a:noFill/>
          </a:ln>
        </p:spPr>
      </p:pic>
      <p:pic>
        <p:nvPicPr>
          <p:cNvPr id="149" name="Google Shape;149;p24"/>
          <p:cNvPicPr preferRelativeResize="0"/>
          <p:nvPr/>
        </p:nvPicPr>
        <p:blipFill>
          <a:blip r:embed="rId6">
            <a:alphaModFix/>
          </a:blip>
          <a:stretch>
            <a:fillRect/>
          </a:stretch>
        </p:blipFill>
        <p:spPr>
          <a:xfrm>
            <a:off x="1585338" y="3767675"/>
            <a:ext cx="1590675" cy="914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p25"/>
          <p:cNvSpPr txBox="1"/>
          <p:nvPr>
            <p:ph idx="1" type="body"/>
          </p:nvPr>
        </p:nvSpPr>
        <p:spPr>
          <a:xfrm>
            <a:off x="129756" y="968910"/>
            <a:ext cx="8884500" cy="4010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Obtain Dynamic Matrix [D] = [K]^-1 [M]</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rPr lang="en">
                <a:latin typeface="Times New Roman"/>
                <a:ea typeface="Times New Roman"/>
                <a:cs typeface="Times New Roman"/>
                <a:sym typeface="Times New Roman"/>
              </a:rPr>
              <a:t>To find first frequency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0"/>
              </a:spcAft>
              <a:buSzPts val="1800"/>
              <a:buNone/>
            </a:pPr>
            <a:r>
              <a:t/>
            </a:r>
            <a:endParaRPr>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a:latin typeface="Times New Roman"/>
              <a:ea typeface="Times New Roman"/>
              <a:cs typeface="Times New Roman"/>
              <a:sym typeface="Times New Roman"/>
            </a:endParaRPr>
          </a:p>
        </p:txBody>
      </p:sp>
      <p:sp>
        <p:nvSpPr>
          <p:cNvPr id="155" name="Google Shape;155;p25"/>
          <p:cNvSpPr txBox="1"/>
          <p:nvPr>
            <p:ph type="title"/>
          </p:nvPr>
        </p:nvSpPr>
        <p:spPr>
          <a:xfrm>
            <a:off x="1585350" y="130975"/>
            <a:ext cx="5973300" cy="5727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Matrix Iteration Method</a:t>
            </a:r>
            <a:endParaRPr/>
          </a:p>
        </p:txBody>
      </p:sp>
      <p:pic>
        <p:nvPicPr>
          <p:cNvPr id="156" name="Google Shape;156;p25"/>
          <p:cNvPicPr preferRelativeResize="0"/>
          <p:nvPr/>
        </p:nvPicPr>
        <p:blipFill>
          <a:blip r:embed="rId4">
            <a:alphaModFix/>
          </a:blip>
          <a:stretch>
            <a:fillRect/>
          </a:stretch>
        </p:blipFill>
        <p:spPr>
          <a:xfrm>
            <a:off x="2824150" y="1454200"/>
            <a:ext cx="3495675" cy="819150"/>
          </a:xfrm>
          <a:prstGeom prst="rect">
            <a:avLst/>
          </a:prstGeom>
          <a:noFill/>
          <a:ln>
            <a:noFill/>
          </a:ln>
        </p:spPr>
      </p:pic>
      <p:pic>
        <p:nvPicPr>
          <p:cNvPr id="157" name="Google Shape;157;p25"/>
          <p:cNvPicPr preferRelativeResize="0"/>
          <p:nvPr/>
        </p:nvPicPr>
        <p:blipFill>
          <a:blip r:embed="rId5">
            <a:alphaModFix/>
          </a:blip>
          <a:stretch>
            <a:fillRect/>
          </a:stretch>
        </p:blipFill>
        <p:spPr>
          <a:xfrm>
            <a:off x="2750000" y="2273350"/>
            <a:ext cx="3952875" cy="1448475"/>
          </a:xfrm>
          <a:prstGeom prst="rect">
            <a:avLst/>
          </a:prstGeom>
          <a:noFill/>
          <a:ln>
            <a:noFill/>
          </a:ln>
        </p:spPr>
      </p:pic>
      <p:pic>
        <p:nvPicPr>
          <p:cNvPr id="158" name="Google Shape;158;p25"/>
          <p:cNvPicPr preferRelativeResize="0"/>
          <p:nvPr/>
        </p:nvPicPr>
        <p:blipFill>
          <a:blip r:embed="rId6">
            <a:alphaModFix/>
          </a:blip>
          <a:stretch>
            <a:fillRect/>
          </a:stretch>
        </p:blipFill>
        <p:spPr>
          <a:xfrm>
            <a:off x="2973838" y="3721825"/>
            <a:ext cx="3505200" cy="1104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164" name="Google Shape;164;p26"/>
          <p:cNvPicPr preferRelativeResize="0"/>
          <p:nvPr/>
        </p:nvPicPr>
        <p:blipFill>
          <a:blip r:embed="rId3">
            <a:alphaModFix/>
          </a:blip>
          <a:stretch>
            <a:fillRect/>
          </a:stretch>
        </p:blipFill>
        <p:spPr>
          <a:xfrm>
            <a:off x="1801850" y="0"/>
            <a:ext cx="5054601" cy="4457850"/>
          </a:xfrm>
          <a:prstGeom prst="rect">
            <a:avLst/>
          </a:prstGeom>
          <a:noFill/>
          <a:ln>
            <a:noFill/>
          </a:ln>
        </p:spPr>
      </p:pic>
      <p:pic>
        <p:nvPicPr>
          <p:cNvPr id="165" name="Google Shape;165;p26"/>
          <p:cNvPicPr preferRelativeResize="0"/>
          <p:nvPr/>
        </p:nvPicPr>
        <p:blipFill>
          <a:blip r:embed="rId4">
            <a:alphaModFix/>
          </a:blip>
          <a:stretch>
            <a:fillRect/>
          </a:stretch>
        </p:blipFill>
        <p:spPr>
          <a:xfrm>
            <a:off x="2234300" y="4457845"/>
            <a:ext cx="1876425" cy="713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p27"/>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Maxwell’s </a:t>
            </a:r>
            <a:r>
              <a:rPr b="1" lang="en" sz="2400">
                <a:latin typeface="Times New Roman"/>
                <a:ea typeface="Times New Roman"/>
                <a:cs typeface="Times New Roman"/>
                <a:sym typeface="Times New Roman"/>
              </a:rPr>
              <a:t>Reciprocation</a:t>
            </a:r>
            <a:r>
              <a:rPr b="1" lang="en" sz="2400">
                <a:latin typeface="Times New Roman"/>
                <a:ea typeface="Times New Roman"/>
                <a:cs typeface="Times New Roman"/>
                <a:sym typeface="Times New Roman"/>
              </a:rPr>
              <a:t> Theorem</a:t>
            </a:r>
            <a:endParaRPr b="1" sz="2400">
              <a:latin typeface="Times New Roman"/>
              <a:ea typeface="Times New Roman"/>
              <a:cs typeface="Times New Roman"/>
              <a:sym typeface="Times New Roman"/>
            </a:endParaRPr>
          </a:p>
        </p:txBody>
      </p:sp>
      <p:sp>
        <p:nvSpPr>
          <p:cNvPr id="171" name="Google Shape;171;p27"/>
          <p:cNvSpPr txBox="1"/>
          <p:nvPr>
            <p:ph idx="1" type="body"/>
          </p:nvPr>
        </p:nvSpPr>
        <p:spPr>
          <a:xfrm>
            <a:off x="146756" y="968910"/>
            <a:ext cx="8884500" cy="40101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100">
                <a:solidFill>
                  <a:schemeClr val="dk1"/>
                </a:solidFill>
              </a:rPr>
              <a:t>Definition:</a:t>
            </a:r>
            <a:endParaRPr b="1"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 Maxwell's Reciprocal Theorem is a fundamental principle in structural mechanics which states that in a linearly elastic structure, the displacement at a point D due to a unit force applied at a point C is equal to the displacement at point C when the same unit force is applied at point D.</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Mathematical Statement:</a:t>
            </a:r>
            <a:r>
              <a:rPr lang="en" sz="1100">
                <a:solidFill>
                  <a:schemeClr val="dk1"/>
                </a:solidFill>
              </a:rPr>
              <a:t> </a:t>
            </a:r>
            <a:endParaRPr sz="1100">
              <a:solidFill>
                <a:schemeClr val="dk1"/>
              </a:solidFill>
            </a:endParaRPr>
          </a:p>
          <a:p>
            <a:pPr indent="0" lvl="0" marL="0" rtl="0" algn="l">
              <a:spcBef>
                <a:spcPts val="1200"/>
              </a:spcBef>
              <a:spcAft>
                <a:spcPts val="0"/>
              </a:spcAft>
              <a:buClr>
                <a:schemeClr val="dk1"/>
              </a:buClr>
              <a:buSzPts val="1100"/>
              <a:buFont typeface="Arial"/>
              <a:buNone/>
            </a:pPr>
            <a:r>
              <a:rPr lang="en" sz="1100">
                <a:solidFill>
                  <a:schemeClr val="dk1"/>
                </a:solidFill>
              </a:rPr>
              <a:t>Consider two points, C and D, on an elastic structure. Let δ</a:t>
            </a:r>
            <a:r>
              <a:rPr baseline="-25000" lang="en" sz="1100">
                <a:solidFill>
                  <a:schemeClr val="dk1"/>
                </a:solidFill>
              </a:rPr>
              <a:t>DC  </a:t>
            </a:r>
            <a:r>
              <a:rPr lang="en" sz="1100">
                <a:solidFill>
                  <a:schemeClr val="dk1"/>
                </a:solidFill>
              </a:rPr>
              <a:t>represent the displacement at point C when a force F</a:t>
            </a:r>
            <a:r>
              <a:rPr baseline="-25000" lang="en" sz="1100">
                <a:solidFill>
                  <a:schemeClr val="dk1"/>
                </a:solidFill>
              </a:rPr>
              <a:t>C</a:t>
            </a:r>
            <a:r>
              <a:rPr lang="en" sz="1100">
                <a:solidFill>
                  <a:schemeClr val="dk1"/>
                </a:solidFill>
              </a:rPr>
              <a:t>​ is applied at point D. Similarly, let δ</a:t>
            </a:r>
            <a:r>
              <a:rPr baseline="-25000" lang="en" sz="1100">
                <a:solidFill>
                  <a:schemeClr val="dk1"/>
                </a:solidFill>
              </a:rPr>
              <a:t>CD</a:t>
            </a:r>
            <a:r>
              <a:rPr lang="en" sz="1100">
                <a:solidFill>
                  <a:schemeClr val="dk1"/>
                </a:solidFill>
              </a:rPr>
              <a:t>​ represent the displacement at point D when the same force F</a:t>
            </a:r>
            <a:r>
              <a:rPr baseline="-25000" lang="en" sz="1100">
                <a:solidFill>
                  <a:schemeClr val="dk1"/>
                </a:solidFill>
              </a:rPr>
              <a:t>D</a:t>
            </a:r>
            <a:r>
              <a:rPr lang="en" sz="1100">
                <a:solidFill>
                  <a:schemeClr val="dk1"/>
                </a:solidFill>
              </a:rPr>
              <a:t>=F</a:t>
            </a:r>
            <a:r>
              <a:rPr baseline="-25000" lang="en" sz="1100">
                <a:solidFill>
                  <a:schemeClr val="dk1"/>
                </a:solidFill>
              </a:rPr>
              <a:t>C</a:t>
            </a:r>
            <a:r>
              <a:rPr lang="en" sz="1100">
                <a:solidFill>
                  <a:schemeClr val="dk1"/>
                </a:solidFill>
              </a:rPr>
              <a:t> is applied at point C. Maxwell's Reciprocal Theorem can be mathematically expressed as:</a:t>
            </a:r>
            <a:endParaRPr sz="1100">
              <a:solidFill>
                <a:schemeClr val="dk1"/>
              </a:solidFill>
            </a:endParaRPr>
          </a:p>
          <a:p>
            <a:pPr indent="0" lvl="0" marL="0" rtl="0" algn="ctr">
              <a:spcBef>
                <a:spcPts val="1200"/>
              </a:spcBef>
              <a:spcAft>
                <a:spcPts val="0"/>
              </a:spcAft>
              <a:buClr>
                <a:schemeClr val="dk1"/>
              </a:buClr>
              <a:buSzPts val="1100"/>
              <a:buFont typeface="Arial"/>
              <a:buNone/>
            </a:pPr>
            <a:r>
              <a:rPr lang="en" sz="1100">
                <a:solidFill>
                  <a:schemeClr val="dk1"/>
                </a:solidFill>
              </a:rPr>
              <a:t>δ</a:t>
            </a:r>
            <a:r>
              <a:rPr baseline="-25000" lang="en" sz="1100">
                <a:solidFill>
                  <a:schemeClr val="dk1"/>
                </a:solidFill>
              </a:rPr>
              <a:t>DC</a:t>
            </a:r>
            <a:r>
              <a:rPr lang="en" sz="1100">
                <a:solidFill>
                  <a:schemeClr val="dk1"/>
                </a:solidFill>
              </a:rPr>
              <a:t> = δ</a:t>
            </a:r>
            <a:r>
              <a:rPr baseline="-25000" lang="en" sz="1100">
                <a:solidFill>
                  <a:schemeClr val="dk1"/>
                </a:solidFill>
              </a:rPr>
              <a:t>CD</a:t>
            </a:r>
            <a:endParaRPr baseline="-25000"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Assumptions:</a:t>
            </a:r>
            <a:endParaRPr b="1" sz="1100">
              <a:solidFill>
                <a:schemeClr val="dk1"/>
              </a:solidFill>
            </a:endParaRPr>
          </a:p>
          <a:p>
            <a:pPr indent="-298450" lvl="0" marL="457200" rtl="0" algn="l">
              <a:spcBef>
                <a:spcPts val="1200"/>
              </a:spcBef>
              <a:spcAft>
                <a:spcPts val="0"/>
              </a:spcAft>
              <a:buClr>
                <a:schemeClr val="dk1"/>
              </a:buClr>
              <a:buSzPts val="1100"/>
              <a:buChar char="●"/>
            </a:pPr>
            <a:r>
              <a:rPr b="1" lang="en" sz="1100">
                <a:solidFill>
                  <a:schemeClr val="dk1"/>
                </a:solidFill>
              </a:rPr>
              <a:t>Linear Elasticity:</a:t>
            </a:r>
            <a:r>
              <a:rPr lang="en" sz="1100">
                <a:solidFill>
                  <a:schemeClr val="dk1"/>
                </a:solidFill>
              </a:rPr>
              <a:t> The material follows Hooke's Law, where stress is directly proportional to strain.</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Small Displacements:</a:t>
            </a:r>
            <a:r>
              <a:rPr lang="en" sz="1100">
                <a:solidFill>
                  <a:schemeClr val="dk1"/>
                </a:solidFill>
              </a:rPr>
              <a:t> The displacements caused by the forces are infinitesimally small.</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Static Loading:</a:t>
            </a:r>
            <a:r>
              <a:rPr lang="en" sz="1100">
                <a:solidFill>
                  <a:schemeClr val="dk1"/>
                </a:solidFill>
              </a:rPr>
              <a:t> The forces are applied statically, meaning there are no dynamic effects such as inertia or damping.</a:t>
            </a:r>
            <a:endParaRPr sz="1100">
              <a:solidFill>
                <a:schemeClr val="dk1"/>
              </a:solidFill>
            </a:endParaRPr>
          </a:p>
          <a:p>
            <a:pPr indent="-171450" lvl="0" marL="285750" rtl="0" algn="l">
              <a:lnSpc>
                <a:spcPct val="115000"/>
              </a:lnSpc>
              <a:spcBef>
                <a:spcPts val="1200"/>
              </a:spcBef>
              <a:spcAft>
                <a:spcPts val="1200"/>
              </a:spcAft>
              <a:buSzPts val="1800"/>
              <a:buNone/>
            </a:pPr>
            <a:r>
              <a:t/>
            </a:r>
            <a:endParaRPr>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28"/>
          <p:cNvSpPr txBox="1"/>
          <p:nvPr/>
        </p:nvSpPr>
        <p:spPr>
          <a:xfrm>
            <a:off x="4330925" y="816450"/>
            <a:ext cx="4668600" cy="3957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When a unit load is applied at point C on the beam, the work done against the elastic forces on the beam is ½ </a:t>
            </a:r>
            <a:r>
              <a:rPr lang="en" sz="1100">
                <a:solidFill>
                  <a:schemeClr val="dk1"/>
                </a:solidFill>
              </a:rPr>
              <a:t>δ</a:t>
            </a:r>
            <a:r>
              <a:rPr baseline="-25000" lang="en" sz="1100">
                <a:solidFill>
                  <a:schemeClr val="dk1"/>
                </a:solidFill>
              </a:rPr>
              <a:t>CC</a:t>
            </a:r>
            <a:endParaRPr baseline="-25000"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If we then apply an additional unit load at point D, the extra work done is </a:t>
            </a:r>
            <a:endParaRPr sz="12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½( </a:t>
            </a:r>
            <a:r>
              <a:rPr lang="en" sz="1100">
                <a:solidFill>
                  <a:schemeClr val="dk1"/>
                </a:solidFill>
              </a:rPr>
              <a:t>δ</a:t>
            </a:r>
            <a:r>
              <a:rPr baseline="-25000" lang="en" sz="1100">
                <a:solidFill>
                  <a:schemeClr val="dk1"/>
                </a:solidFill>
              </a:rPr>
              <a:t>DD</a:t>
            </a:r>
            <a:r>
              <a:rPr lang="en" sz="1200">
                <a:solidFill>
                  <a:schemeClr val="dk1"/>
                </a:solidFill>
                <a:latin typeface="Roboto"/>
                <a:ea typeface="Roboto"/>
                <a:cs typeface="Roboto"/>
                <a:sym typeface="Roboto"/>
              </a:rPr>
              <a:t> + </a:t>
            </a:r>
            <a:r>
              <a:rPr lang="en" sz="1100">
                <a:solidFill>
                  <a:schemeClr val="dk1"/>
                </a:solidFill>
              </a:rPr>
              <a:t>δ</a:t>
            </a:r>
            <a:r>
              <a:rPr baseline="-25000" lang="en" sz="1100">
                <a:solidFill>
                  <a:schemeClr val="dk1"/>
                </a:solidFill>
              </a:rPr>
              <a:t>CD</a:t>
            </a:r>
            <a:r>
              <a:rPr lang="en" sz="1100">
                <a:solidFill>
                  <a:schemeClr val="dk1"/>
                </a:solidFill>
              </a:rPr>
              <a:t>)</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Now, let's consider applying the forces in the reverse order. First, if the unit load is applied at point D, the work done is ½ </a:t>
            </a:r>
            <a:r>
              <a:rPr lang="en" sz="1100">
                <a:solidFill>
                  <a:schemeClr val="dk1"/>
                </a:solidFill>
              </a:rPr>
              <a:t>δ</a:t>
            </a:r>
            <a:r>
              <a:rPr baseline="-25000" lang="en" sz="1100">
                <a:solidFill>
                  <a:schemeClr val="dk1"/>
                </a:solidFill>
              </a:rPr>
              <a:t>DD</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Then, if we add the load at point C, the additional work done is </a:t>
            </a:r>
            <a:endParaRPr sz="12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½ (</a:t>
            </a:r>
            <a:r>
              <a:rPr lang="en" sz="1100">
                <a:solidFill>
                  <a:schemeClr val="dk1"/>
                </a:solidFill>
              </a:rPr>
              <a:t>δ</a:t>
            </a:r>
            <a:r>
              <a:rPr baseline="-25000" lang="en" sz="1100">
                <a:solidFill>
                  <a:schemeClr val="dk1"/>
                </a:solidFill>
              </a:rPr>
              <a:t>CC</a:t>
            </a:r>
            <a:r>
              <a:rPr lang="en" sz="1100">
                <a:solidFill>
                  <a:schemeClr val="dk1"/>
                </a:solidFill>
              </a:rPr>
              <a:t> + δ</a:t>
            </a:r>
            <a:r>
              <a:rPr baseline="-25000" lang="en" sz="1100">
                <a:solidFill>
                  <a:schemeClr val="dk1"/>
                </a:solidFill>
              </a:rPr>
              <a:t>DC</a:t>
            </a:r>
            <a:r>
              <a:rPr lang="en" sz="1100">
                <a:solidFill>
                  <a:schemeClr val="dk1"/>
                </a:solidFill>
              </a:rPr>
              <a:t>)</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Since the total work done in both scenarios must be the same, we can equate the two expressions:</a:t>
            </a:r>
            <a:endParaRPr sz="12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½ </a:t>
            </a:r>
            <a:r>
              <a:rPr lang="en" sz="1100">
                <a:solidFill>
                  <a:schemeClr val="dk1"/>
                </a:solidFill>
              </a:rPr>
              <a:t>δ</a:t>
            </a:r>
            <a:r>
              <a:rPr baseline="-25000" lang="en" sz="1100">
                <a:solidFill>
                  <a:schemeClr val="dk1"/>
                </a:solidFill>
              </a:rPr>
              <a:t>CC</a:t>
            </a:r>
            <a:r>
              <a:rPr lang="en" sz="1200">
                <a:solidFill>
                  <a:schemeClr val="dk1"/>
                </a:solidFill>
                <a:latin typeface="Roboto"/>
                <a:ea typeface="Roboto"/>
                <a:cs typeface="Roboto"/>
                <a:sym typeface="Roboto"/>
              </a:rPr>
              <a:t> + ½( </a:t>
            </a:r>
            <a:r>
              <a:rPr lang="en" sz="1100">
                <a:solidFill>
                  <a:schemeClr val="dk1"/>
                </a:solidFill>
              </a:rPr>
              <a:t>δ</a:t>
            </a:r>
            <a:r>
              <a:rPr baseline="-25000" lang="en" sz="1100">
                <a:solidFill>
                  <a:schemeClr val="dk1"/>
                </a:solidFill>
              </a:rPr>
              <a:t>DD </a:t>
            </a:r>
            <a:r>
              <a:rPr lang="en" sz="1200">
                <a:solidFill>
                  <a:schemeClr val="dk1"/>
                </a:solidFill>
                <a:latin typeface="Roboto"/>
                <a:ea typeface="Roboto"/>
                <a:cs typeface="Roboto"/>
                <a:sym typeface="Roboto"/>
              </a:rPr>
              <a:t>+ </a:t>
            </a:r>
            <a:r>
              <a:rPr lang="en" sz="1100">
                <a:solidFill>
                  <a:schemeClr val="dk1"/>
                </a:solidFill>
              </a:rPr>
              <a:t>δ</a:t>
            </a:r>
            <a:r>
              <a:rPr baseline="-25000" lang="en" sz="1100">
                <a:solidFill>
                  <a:schemeClr val="dk1"/>
                </a:solidFill>
              </a:rPr>
              <a:t>CD </a:t>
            </a:r>
            <a:r>
              <a:rPr lang="en" sz="1100">
                <a:solidFill>
                  <a:schemeClr val="dk1"/>
                </a:solidFill>
              </a:rPr>
              <a:t>)= </a:t>
            </a:r>
            <a:r>
              <a:rPr lang="en" sz="1200">
                <a:solidFill>
                  <a:schemeClr val="dk1"/>
                </a:solidFill>
                <a:latin typeface="Roboto"/>
                <a:ea typeface="Roboto"/>
                <a:cs typeface="Roboto"/>
                <a:sym typeface="Roboto"/>
              </a:rPr>
              <a:t>½ </a:t>
            </a:r>
            <a:r>
              <a:rPr lang="en" sz="1100">
                <a:solidFill>
                  <a:schemeClr val="dk1"/>
                </a:solidFill>
              </a:rPr>
              <a:t>δ</a:t>
            </a:r>
            <a:r>
              <a:rPr baseline="-25000" lang="en" sz="1100">
                <a:solidFill>
                  <a:schemeClr val="dk1"/>
                </a:solidFill>
              </a:rPr>
              <a:t>DD</a:t>
            </a:r>
            <a:r>
              <a:rPr lang="en" sz="1200">
                <a:solidFill>
                  <a:schemeClr val="dk1"/>
                </a:solidFill>
                <a:latin typeface="Roboto"/>
                <a:ea typeface="Roboto"/>
                <a:cs typeface="Roboto"/>
                <a:sym typeface="Roboto"/>
              </a:rPr>
              <a:t> + ½( </a:t>
            </a:r>
            <a:r>
              <a:rPr lang="en" sz="1100">
                <a:solidFill>
                  <a:schemeClr val="dk1"/>
                </a:solidFill>
              </a:rPr>
              <a:t>δ</a:t>
            </a:r>
            <a:r>
              <a:rPr baseline="-25000" lang="en" sz="1100">
                <a:solidFill>
                  <a:schemeClr val="dk1"/>
                </a:solidFill>
              </a:rPr>
              <a:t>CC </a:t>
            </a:r>
            <a:r>
              <a:rPr lang="en" sz="1200">
                <a:solidFill>
                  <a:schemeClr val="dk1"/>
                </a:solidFill>
                <a:latin typeface="Roboto"/>
                <a:ea typeface="Roboto"/>
                <a:cs typeface="Roboto"/>
                <a:sym typeface="Roboto"/>
              </a:rPr>
              <a:t>+ </a:t>
            </a:r>
            <a:r>
              <a:rPr lang="en" sz="1100">
                <a:solidFill>
                  <a:schemeClr val="dk1"/>
                </a:solidFill>
              </a:rPr>
              <a:t>δ</a:t>
            </a:r>
            <a:r>
              <a:rPr baseline="-25000" lang="en" sz="1100">
                <a:solidFill>
                  <a:schemeClr val="dk1"/>
                </a:solidFill>
              </a:rPr>
              <a:t>DC</a:t>
            </a:r>
            <a:r>
              <a:rPr lang="en" sz="1100">
                <a:solidFill>
                  <a:schemeClr val="dk1"/>
                </a:solidFill>
              </a:rPr>
              <a:t>)</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This equation simplifies to show that</a:t>
            </a:r>
            <a:endParaRPr sz="1200">
              <a:solidFill>
                <a:schemeClr val="dk1"/>
              </a:solidFill>
              <a:latin typeface="Roboto"/>
              <a:ea typeface="Roboto"/>
              <a:cs typeface="Roboto"/>
              <a:sym typeface="Roboto"/>
            </a:endParaRPr>
          </a:p>
          <a:p>
            <a:pPr indent="0" lvl="0" marL="0" rtl="0" algn="ctr">
              <a:spcBef>
                <a:spcPts val="0"/>
              </a:spcBef>
              <a:spcAft>
                <a:spcPts val="0"/>
              </a:spcAft>
              <a:buClr>
                <a:schemeClr val="dk1"/>
              </a:buClr>
              <a:buSzPts val="1100"/>
              <a:buFont typeface="Arial"/>
              <a:buNone/>
            </a:pPr>
            <a:r>
              <a:rPr lang="en" sz="1100">
                <a:solidFill>
                  <a:schemeClr val="dk1"/>
                </a:solidFill>
              </a:rPr>
              <a:t>δ</a:t>
            </a:r>
            <a:r>
              <a:rPr baseline="-25000" lang="en" sz="1100">
                <a:solidFill>
                  <a:schemeClr val="dk1"/>
                </a:solidFill>
              </a:rPr>
              <a:t>CD </a:t>
            </a:r>
            <a:r>
              <a:rPr lang="en" sz="1200">
                <a:solidFill>
                  <a:schemeClr val="dk1"/>
                </a:solidFill>
                <a:latin typeface="Roboto"/>
                <a:ea typeface="Roboto"/>
                <a:cs typeface="Roboto"/>
                <a:sym typeface="Roboto"/>
              </a:rPr>
              <a:t>= </a:t>
            </a:r>
            <a:r>
              <a:rPr lang="en" sz="1100">
                <a:solidFill>
                  <a:schemeClr val="dk1"/>
                </a:solidFill>
              </a:rPr>
              <a:t>δ</a:t>
            </a:r>
            <a:r>
              <a:rPr baseline="-25000" lang="en" sz="1100">
                <a:solidFill>
                  <a:schemeClr val="dk1"/>
                </a:solidFill>
              </a:rPr>
              <a:t>DC</a:t>
            </a:r>
            <a:r>
              <a:rPr lang="en" sz="1100">
                <a:solidFill>
                  <a:schemeClr val="dk1"/>
                </a:solidFill>
              </a:rPr>
              <a:t> </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which is Maxwell’s Reciprocal Theorem.</a:t>
            </a:r>
            <a:endParaRPr sz="1200">
              <a:solidFill>
                <a:schemeClr val="dk1"/>
              </a:solidFill>
              <a:latin typeface="Roboto"/>
              <a:ea typeface="Roboto"/>
              <a:cs typeface="Roboto"/>
              <a:sym typeface="Roboto"/>
            </a:endParaRPr>
          </a:p>
          <a:p>
            <a:pPr indent="0" lvl="0" marL="0" rtl="0" algn="just">
              <a:spcBef>
                <a:spcPts val="0"/>
              </a:spcBef>
              <a:spcAft>
                <a:spcPts val="0"/>
              </a:spcAft>
              <a:buNone/>
            </a:pPr>
            <a:r>
              <a:t/>
            </a:r>
            <a:endParaRPr sz="1200">
              <a:solidFill>
                <a:schemeClr val="dk1"/>
              </a:solidFill>
              <a:latin typeface="Roboto"/>
              <a:ea typeface="Roboto"/>
              <a:cs typeface="Roboto"/>
              <a:sym typeface="Roboto"/>
            </a:endParaRPr>
          </a:p>
        </p:txBody>
      </p:sp>
      <p:pic>
        <p:nvPicPr>
          <p:cNvPr id="177" name="Google Shape;177;p28"/>
          <p:cNvPicPr preferRelativeResize="0"/>
          <p:nvPr/>
        </p:nvPicPr>
        <p:blipFill>
          <a:blip r:embed="rId4">
            <a:alphaModFix/>
          </a:blip>
          <a:stretch>
            <a:fillRect/>
          </a:stretch>
        </p:blipFill>
        <p:spPr>
          <a:xfrm>
            <a:off x="598250" y="2392025"/>
            <a:ext cx="3360851" cy="1548675"/>
          </a:xfrm>
          <a:prstGeom prst="rect">
            <a:avLst/>
          </a:prstGeom>
          <a:noFill/>
          <a:ln>
            <a:noFill/>
          </a:ln>
        </p:spPr>
      </p:pic>
      <p:sp>
        <p:nvSpPr>
          <p:cNvPr id="178" name="Google Shape;178;p28"/>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Derivation of the theorem</a:t>
            </a:r>
            <a:endParaRPr b="1" sz="2400">
              <a:latin typeface="Times New Roman"/>
              <a:ea typeface="Times New Roman"/>
              <a:cs typeface="Times New Roman"/>
              <a:sym typeface="Times New Roman"/>
            </a:endParaRPr>
          </a:p>
        </p:txBody>
      </p:sp>
      <p:sp>
        <p:nvSpPr>
          <p:cNvPr id="179" name="Google Shape;179;p28"/>
          <p:cNvSpPr txBox="1"/>
          <p:nvPr/>
        </p:nvSpPr>
        <p:spPr>
          <a:xfrm>
            <a:off x="299150" y="1037250"/>
            <a:ext cx="3933900" cy="738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solidFill>
                  <a:schemeClr val="dk1"/>
                </a:solidFill>
                <a:latin typeface="Roboto"/>
                <a:ea typeface="Roboto"/>
                <a:cs typeface="Roboto"/>
                <a:sym typeface="Roboto"/>
              </a:rPr>
              <a:t>To better understand Maxwell’s reciprocal theorem, consider a beam subjected to a point load, as shown in the figure.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3" name="Shape 183"/>
        <p:cNvGrpSpPr/>
        <p:nvPr/>
      </p:nvGrpSpPr>
      <p:grpSpPr>
        <a:xfrm>
          <a:off x="0" y="0"/>
          <a:ext cx="0" cy="0"/>
          <a:chOff x="0" y="0"/>
          <a:chExt cx="0" cy="0"/>
        </a:xfrm>
      </p:grpSpPr>
      <p:sp>
        <p:nvSpPr>
          <p:cNvPr id="184" name="Google Shape;184;p29"/>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Example Problem</a:t>
            </a:r>
            <a:endParaRPr b="1" sz="2400">
              <a:latin typeface="Times New Roman"/>
              <a:ea typeface="Times New Roman"/>
              <a:cs typeface="Times New Roman"/>
              <a:sym typeface="Times New Roman"/>
            </a:endParaRPr>
          </a:p>
        </p:txBody>
      </p:sp>
      <p:sp>
        <p:nvSpPr>
          <p:cNvPr id="185" name="Google Shape;185;p29"/>
          <p:cNvSpPr txBox="1"/>
          <p:nvPr>
            <p:ph idx="1" type="body"/>
          </p:nvPr>
        </p:nvSpPr>
        <p:spPr>
          <a:xfrm>
            <a:off x="299153" y="968900"/>
            <a:ext cx="4227300" cy="4010100"/>
          </a:xfrm>
          <a:prstGeom prst="rect">
            <a:avLst/>
          </a:prstGeom>
          <a:noFill/>
          <a:ln>
            <a:noFill/>
          </a:ln>
        </p:spPr>
        <p:txBody>
          <a:bodyPr anchorCtr="0" anchor="t" bIns="91425" lIns="91425" spcFirstLastPara="1" rIns="91425" wrap="square" tIns="91425">
            <a:noAutofit/>
          </a:bodyPr>
          <a:lstStyle/>
          <a:p>
            <a:pPr indent="0" lvl="0" marL="0" rtl="0" algn="l">
              <a:spcBef>
                <a:spcPts val="1200"/>
              </a:spcBef>
              <a:spcAft>
                <a:spcPts val="0"/>
              </a:spcAft>
              <a:buSzPts val="1100"/>
              <a:buNone/>
            </a:pPr>
            <a:r>
              <a:rPr lang="en" sz="1100">
                <a:solidFill>
                  <a:schemeClr val="dk1"/>
                </a:solidFill>
              </a:rPr>
              <a:t>Verify Maxwell-Betti law of reciprocal displacement for the cantilever beam shown in Figure 4.34(a).</a:t>
            </a:r>
            <a:endParaRPr sz="1100">
              <a:solidFill>
                <a:schemeClr val="dk1"/>
              </a:solidFill>
            </a:endParaRPr>
          </a:p>
          <a:p>
            <a:pPr indent="0" lvl="0" marL="0" rtl="0" algn="l">
              <a:spcBef>
                <a:spcPts val="1200"/>
              </a:spcBef>
              <a:spcAft>
                <a:spcPts val="0"/>
              </a:spcAft>
              <a:buSzPts val="1100"/>
              <a:buNone/>
            </a:pPr>
            <a:r>
              <a:t/>
            </a:r>
            <a:endParaRPr sz="1100">
              <a:solidFill>
                <a:schemeClr val="dk1"/>
              </a:solidFill>
            </a:endParaRPr>
          </a:p>
          <a:p>
            <a:pPr indent="0" lvl="0" marL="0" rtl="0" algn="l">
              <a:spcBef>
                <a:spcPts val="1200"/>
              </a:spcBef>
              <a:spcAft>
                <a:spcPts val="0"/>
              </a:spcAft>
              <a:buSzPts val="1100"/>
              <a:buNone/>
            </a:pPr>
            <a:r>
              <a:t/>
            </a:r>
            <a:endParaRPr sz="1100">
              <a:solidFill>
                <a:schemeClr val="dk1"/>
              </a:solidFill>
            </a:endParaRPr>
          </a:p>
          <a:p>
            <a:pPr indent="0" lvl="0" marL="0" rtl="0" algn="l">
              <a:spcBef>
                <a:spcPts val="1200"/>
              </a:spcBef>
              <a:spcAft>
                <a:spcPts val="0"/>
              </a:spcAft>
              <a:buSzPts val="1100"/>
              <a:buNone/>
            </a:pPr>
            <a:r>
              <a:t/>
            </a:r>
            <a:endParaRPr sz="1100">
              <a:solidFill>
                <a:schemeClr val="dk1"/>
              </a:solidFill>
            </a:endParaRPr>
          </a:p>
          <a:p>
            <a:pPr indent="0" lvl="0" marL="0" rtl="0" algn="l">
              <a:spcBef>
                <a:spcPts val="1200"/>
              </a:spcBef>
              <a:spcAft>
                <a:spcPts val="0"/>
              </a:spcAft>
              <a:buSzPts val="1100"/>
              <a:buNone/>
            </a:pPr>
            <a:r>
              <a:t/>
            </a:r>
            <a:endParaRPr sz="1100">
              <a:solidFill>
                <a:schemeClr val="dk1"/>
              </a:solidFill>
            </a:endParaRPr>
          </a:p>
          <a:p>
            <a:pPr indent="0" lvl="0" marL="0" rtl="0" algn="l">
              <a:spcBef>
                <a:spcPts val="1200"/>
              </a:spcBef>
              <a:spcAft>
                <a:spcPts val="0"/>
              </a:spcAft>
              <a:buSzPts val="1100"/>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Solution:</a:t>
            </a:r>
            <a:r>
              <a:rPr lang="en" sz="1100">
                <a:solidFill>
                  <a:schemeClr val="dk1"/>
                </a:solidFill>
              </a:rPr>
              <a:t> Apply the forces P1 and P2 in the directions 1 and 2, respectively. The total strain energy stored is calculated below.</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SzPts val="1100"/>
              <a:buNone/>
            </a:pPr>
            <a:r>
              <a:t/>
            </a:r>
            <a:endParaRPr sz="1100">
              <a:solidFill>
                <a:schemeClr val="dk1"/>
              </a:solidFill>
            </a:endParaRPr>
          </a:p>
        </p:txBody>
      </p:sp>
      <p:pic>
        <p:nvPicPr>
          <p:cNvPr id="186" name="Google Shape;186;p29"/>
          <p:cNvPicPr preferRelativeResize="0"/>
          <p:nvPr/>
        </p:nvPicPr>
        <p:blipFill>
          <a:blip r:embed="rId4">
            <a:alphaModFix/>
          </a:blip>
          <a:stretch>
            <a:fillRect/>
          </a:stretch>
        </p:blipFill>
        <p:spPr>
          <a:xfrm>
            <a:off x="352800" y="1565875"/>
            <a:ext cx="3767050" cy="1281375"/>
          </a:xfrm>
          <a:prstGeom prst="rect">
            <a:avLst/>
          </a:prstGeom>
          <a:noFill/>
          <a:ln>
            <a:noFill/>
          </a:ln>
        </p:spPr>
      </p:pic>
      <p:pic>
        <p:nvPicPr>
          <p:cNvPr id="187" name="Google Shape;187;p29"/>
          <p:cNvPicPr preferRelativeResize="0"/>
          <p:nvPr/>
        </p:nvPicPr>
        <p:blipFill>
          <a:blip r:embed="rId5">
            <a:alphaModFix/>
          </a:blip>
          <a:stretch>
            <a:fillRect/>
          </a:stretch>
        </p:blipFill>
        <p:spPr>
          <a:xfrm>
            <a:off x="4762025" y="1146198"/>
            <a:ext cx="3571174" cy="2830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sp>
        <p:nvSpPr>
          <p:cNvPr id="192" name="Google Shape;192;p30"/>
          <p:cNvSpPr txBox="1"/>
          <p:nvPr>
            <p:ph type="title"/>
          </p:nvPr>
        </p:nvSpPr>
        <p:spPr>
          <a:xfrm>
            <a:off x="1862667" y="164550"/>
            <a:ext cx="5012400" cy="8043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Limitations and Applications</a:t>
            </a:r>
            <a:endParaRPr b="1" sz="2400">
              <a:latin typeface="Times New Roman"/>
              <a:ea typeface="Times New Roman"/>
              <a:cs typeface="Times New Roman"/>
              <a:sym typeface="Times New Roman"/>
            </a:endParaRPr>
          </a:p>
        </p:txBody>
      </p:sp>
      <p:sp>
        <p:nvSpPr>
          <p:cNvPr id="193" name="Google Shape;193;p30"/>
          <p:cNvSpPr txBox="1"/>
          <p:nvPr>
            <p:ph idx="1" type="body"/>
          </p:nvPr>
        </p:nvSpPr>
        <p:spPr>
          <a:xfrm>
            <a:off x="299153" y="968900"/>
            <a:ext cx="4227300" cy="4010100"/>
          </a:xfrm>
          <a:prstGeom prst="rect">
            <a:avLst/>
          </a:prstGeom>
          <a:noFill/>
          <a:ln>
            <a:noFill/>
          </a:ln>
        </p:spPr>
        <p:txBody>
          <a:bodyPr anchorCtr="0" anchor="t" bIns="91425" lIns="91425" spcFirstLastPara="1" rIns="91425" wrap="square" tIns="91425">
            <a:noAutofit/>
          </a:bodyPr>
          <a:lstStyle/>
          <a:p>
            <a:pPr indent="0" lvl="0" marL="0" rtl="0" algn="l">
              <a:spcBef>
                <a:spcPts val="1400"/>
              </a:spcBef>
              <a:spcAft>
                <a:spcPts val="0"/>
              </a:spcAft>
              <a:buSzPts val="1100"/>
              <a:buNone/>
            </a:pPr>
            <a:r>
              <a:rPr b="1" lang="en" sz="1300">
                <a:solidFill>
                  <a:schemeClr val="dk1"/>
                </a:solidFill>
              </a:rPr>
              <a:t>Limitations of Maxwell's Reciprocal Theorem</a:t>
            </a:r>
            <a:endParaRPr b="1" sz="1300">
              <a:solidFill>
                <a:schemeClr val="dk1"/>
              </a:solidFill>
            </a:endParaRPr>
          </a:p>
          <a:p>
            <a:pPr indent="0" lvl="0" marL="0" rtl="0" algn="l">
              <a:spcBef>
                <a:spcPts val="1200"/>
              </a:spcBef>
              <a:spcAft>
                <a:spcPts val="0"/>
              </a:spcAft>
              <a:buSzPts val="1100"/>
              <a:buNone/>
            </a:pPr>
            <a:r>
              <a:rPr b="1" lang="en" sz="1100">
                <a:solidFill>
                  <a:schemeClr val="dk1"/>
                </a:solidFill>
              </a:rPr>
              <a:t>Non-linearity:</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The theorem is only valid for linear elastic materials. In cases where the material exhibits </a:t>
            </a:r>
            <a:r>
              <a:rPr lang="en" sz="1100">
                <a:solidFill>
                  <a:schemeClr val="dk1"/>
                </a:solidFill>
              </a:rPr>
              <a:t>nonlinear</a:t>
            </a:r>
            <a:r>
              <a:rPr lang="en" sz="1100">
                <a:solidFill>
                  <a:schemeClr val="dk1"/>
                </a:solidFill>
              </a:rPr>
              <a:t> behavior (e.g., plastic deformation), the theorem does not hold.</a:t>
            </a:r>
            <a:endParaRPr sz="1100">
              <a:solidFill>
                <a:schemeClr val="dk1"/>
              </a:solidFill>
            </a:endParaRPr>
          </a:p>
          <a:p>
            <a:pPr indent="0" lvl="0" marL="0" rtl="0" algn="l">
              <a:spcBef>
                <a:spcPts val="1200"/>
              </a:spcBef>
              <a:spcAft>
                <a:spcPts val="0"/>
              </a:spcAft>
              <a:buSzPts val="1100"/>
              <a:buNone/>
            </a:pPr>
            <a:r>
              <a:rPr b="1" lang="en" sz="1100">
                <a:solidFill>
                  <a:schemeClr val="dk1"/>
                </a:solidFill>
              </a:rPr>
              <a:t>Large Deformations: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For large displacements or rotations, the linearity assumption breaks down, and Maxwell's Reciprocal Theorem may not be applicable.</a:t>
            </a:r>
            <a:endParaRPr sz="1100">
              <a:solidFill>
                <a:schemeClr val="dk1"/>
              </a:solidFill>
            </a:endParaRPr>
          </a:p>
          <a:p>
            <a:pPr indent="0" lvl="0" marL="0" rtl="0" algn="l">
              <a:spcBef>
                <a:spcPts val="1200"/>
              </a:spcBef>
              <a:spcAft>
                <a:spcPts val="0"/>
              </a:spcAft>
              <a:buSzPts val="1100"/>
              <a:buNone/>
            </a:pPr>
            <a:r>
              <a:rPr b="1" lang="en" sz="1100">
                <a:solidFill>
                  <a:schemeClr val="dk1"/>
                </a:solidFill>
              </a:rPr>
              <a:t>Anisotropy and Temperature Effects:</a:t>
            </a:r>
            <a:endParaRPr b="1" sz="11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The theorem assumes isotropic materials, meaning the material properties are the same in all directions. For anisotropic materials (like composites) or in cases where temperature significantly affects material properties, the theorem may not apply.</a:t>
            </a:r>
            <a:endParaRPr sz="1100">
              <a:solidFill>
                <a:schemeClr val="dk1"/>
              </a:solidFill>
            </a:endParaRPr>
          </a:p>
          <a:p>
            <a:pPr indent="0" lvl="0" marL="0" rtl="0" algn="l">
              <a:spcBef>
                <a:spcPts val="1200"/>
              </a:spcBef>
              <a:spcAft>
                <a:spcPts val="1200"/>
              </a:spcAft>
              <a:buSzPts val="1100"/>
              <a:buNone/>
            </a:pPr>
            <a:r>
              <a:t/>
            </a:r>
            <a:endParaRPr b="1" sz="1100">
              <a:solidFill>
                <a:schemeClr val="dk1"/>
              </a:solidFill>
            </a:endParaRPr>
          </a:p>
        </p:txBody>
      </p:sp>
      <p:sp>
        <p:nvSpPr>
          <p:cNvPr id="194" name="Google Shape;194;p30"/>
          <p:cNvSpPr txBox="1"/>
          <p:nvPr/>
        </p:nvSpPr>
        <p:spPr>
          <a:xfrm>
            <a:off x="4493450" y="973475"/>
            <a:ext cx="4199400" cy="395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Applications in Vibrations Engineering</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In Vibrational Analysis:</a:t>
            </a:r>
            <a:endParaRPr b="1" sz="1100">
              <a:solidFill>
                <a:schemeClr val="dk1"/>
              </a:solidFill>
            </a:endParaRPr>
          </a:p>
          <a:p>
            <a:pPr indent="0" lvl="0" marL="0" rtl="0" algn="l">
              <a:lnSpc>
                <a:spcPct val="115000"/>
              </a:lnSpc>
              <a:spcBef>
                <a:spcPts val="1200"/>
              </a:spcBef>
              <a:spcAft>
                <a:spcPts val="0"/>
              </a:spcAft>
              <a:buNone/>
            </a:pPr>
            <a:r>
              <a:rPr lang="en" sz="1100">
                <a:solidFill>
                  <a:schemeClr val="dk1"/>
                </a:solidFill>
              </a:rPr>
              <a:t>Maxwell's Reciprocal Theorem simplifies the analysis of vibrational systems by allowing engineers to compute displacements and forces without recalculating for every new force location.</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It is particularly useful in modal analysis, where the dynamic response of a structure is studied by breaking down complex vibrations into simpler modes.</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In Structural Engineering:</a:t>
            </a:r>
            <a:endParaRPr b="1" sz="1100">
              <a:solidFill>
                <a:schemeClr val="dk1"/>
              </a:solidFill>
            </a:endParaRPr>
          </a:p>
          <a:p>
            <a:pPr indent="0" lvl="0" marL="0" rtl="0" algn="l">
              <a:lnSpc>
                <a:spcPct val="115000"/>
              </a:lnSpc>
              <a:spcBef>
                <a:spcPts val="1200"/>
              </a:spcBef>
              <a:spcAft>
                <a:spcPts val="1200"/>
              </a:spcAft>
              <a:buNone/>
            </a:pPr>
            <a:r>
              <a:rPr lang="en" sz="1100">
                <a:solidFill>
                  <a:schemeClr val="dk1"/>
                </a:solidFill>
              </a:rPr>
              <a:t>The theorem is used in the design and analysis of structures like bridges, buildings, and mechanical components. It helps in verifying numerical solutions obtained from finite element analysis (FEA) by ensuring the reciprocity of calculated displacements.</a:t>
            </a:r>
            <a:endParaRPr b="1" sz="11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Dunkerley Method</a:t>
            </a:r>
            <a:endParaRPr b="1" sz="2400">
              <a:latin typeface="Times New Roman"/>
              <a:ea typeface="Times New Roman"/>
              <a:cs typeface="Times New Roman"/>
              <a:sym typeface="Times New Roman"/>
            </a:endParaRPr>
          </a:p>
        </p:txBody>
      </p:sp>
      <p:sp>
        <p:nvSpPr>
          <p:cNvPr id="200" name="Google Shape;200;p3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solidFill>
                  <a:schemeClr val="dk1"/>
                </a:solidFill>
              </a:rPr>
              <a:t>Dunkerley’s Formula is another method of estimating the lowest (fundamental) natural frequency of a system without having to solve an eigenvalue problem. Rather than using the stiffness matrix, Dunkerley’s Method makes use of the </a:t>
            </a:r>
            <a:r>
              <a:rPr i="1" lang="en" sz="1100">
                <a:solidFill>
                  <a:schemeClr val="dk1"/>
                </a:solidFill>
              </a:rPr>
              <a:t>flexibility</a:t>
            </a:r>
            <a:r>
              <a:rPr lang="en" sz="1100">
                <a:solidFill>
                  <a:schemeClr val="dk1"/>
                </a:solidFill>
              </a:rPr>
              <a:t> matrix  which is the inverse of the stiffness matrix.</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Starting with the equations of motion for a general degree of freedom system</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and assuming simple simultaneous harmonic motion of the form</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171450" lvl="0" marL="285750" rtl="0" algn="l">
              <a:lnSpc>
                <a:spcPct val="115000"/>
              </a:lnSpc>
              <a:spcBef>
                <a:spcPts val="1200"/>
              </a:spcBef>
              <a:spcAft>
                <a:spcPts val="0"/>
              </a:spcAft>
              <a:buSzPts val="1800"/>
              <a:buNone/>
            </a:pPr>
            <a:r>
              <a:t/>
            </a:r>
            <a:endParaRPr b="1">
              <a:latin typeface="Times New Roman"/>
              <a:ea typeface="Times New Roman"/>
              <a:cs typeface="Times New Roman"/>
              <a:sym typeface="Times New Roman"/>
            </a:endParaRPr>
          </a:p>
          <a:p>
            <a:pPr indent="-171450" lvl="0" marL="285750" rtl="0" algn="l">
              <a:lnSpc>
                <a:spcPct val="115000"/>
              </a:lnSpc>
              <a:spcBef>
                <a:spcPts val="1200"/>
              </a:spcBef>
              <a:spcAft>
                <a:spcPts val="1200"/>
              </a:spcAft>
              <a:buSzPts val="1800"/>
              <a:buNone/>
            </a:pPr>
            <a:r>
              <a:t/>
            </a:r>
            <a:endParaRPr>
              <a:latin typeface="Times New Roman"/>
              <a:ea typeface="Times New Roman"/>
              <a:cs typeface="Times New Roman"/>
              <a:sym typeface="Times New Roman"/>
            </a:endParaRPr>
          </a:p>
        </p:txBody>
      </p:sp>
      <p:pic>
        <p:nvPicPr>
          <p:cNvPr id="201" name="Google Shape;201;p31"/>
          <p:cNvPicPr preferRelativeResize="0"/>
          <p:nvPr/>
        </p:nvPicPr>
        <p:blipFill>
          <a:blip r:embed="rId4">
            <a:alphaModFix/>
          </a:blip>
          <a:stretch>
            <a:fillRect/>
          </a:stretch>
        </p:blipFill>
        <p:spPr>
          <a:xfrm>
            <a:off x="1329579" y="2738525"/>
            <a:ext cx="1964133" cy="331966"/>
          </a:xfrm>
          <a:prstGeom prst="rect">
            <a:avLst/>
          </a:prstGeom>
          <a:noFill/>
          <a:ln>
            <a:noFill/>
          </a:ln>
        </p:spPr>
      </p:pic>
      <p:sp>
        <p:nvSpPr>
          <p:cNvPr id="202" name="Google Shape;202;p31"/>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100">
                <a:solidFill>
                  <a:schemeClr val="dk1"/>
                </a:solidFill>
              </a:rPr>
              <a:t>Premultiplication by k-1 results in</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 sz="1100">
                <a:solidFill>
                  <a:schemeClr val="dk1"/>
                </a:solidFill>
              </a:rPr>
              <a:t>for a non-trivial solution to exist it is required that</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p>
        </p:txBody>
      </p:sp>
      <p:pic>
        <p:nvPicPr>
          <p:cNvPr id="203" name="Google Shape;203;p31"/>
          <p:cNvPicPr preferRelativeResize="0"/>
          <p:nvPr/>
        </p:nvPicPr>
        <p:blipFill rotWithShape="1">
          <a:blip r:embed="rId5">
            <a:alphaModFix/>
          </a:blip>
          <a:srcRect b="0" l="0" r="0" t="76715"/>
          <a:stretch/>
        </p:blipFill>
        <p:spPr>
          <a:xfrm>
            <a:off x="1016250" y="4134175"/>
            <a:ext cx="2590800" cy="434700"/>
          </a:xfrm>
          <a:prstGeom prst="rect">
            <a:avLst/>
          </a:prstGeom>
          <a:noFill/>
          <a:ln>
            <a:noFill/>
          </a:ln>
        </p:spPr>
      </p:pic>
      <p:pic>
        <p:nvPicPr>
          <p:cNvPr id="204" name="Google Shape;204;p31"/>
          <p:cNvPicPr preferRelativeResize="0"/>
          <p:nvPr/>
        </p:nvPicPr>
        <p:blipFill rotWithShape="1">
          <a:blip r:embed="rId5">
            <a:alphaModFix/>
          </a:blip>
          <a:srcRect b="77197" l="0" r="0" t="5019"/>
          <a:stretch/>
        </p:blipFill>
        <p:spPr>
          <a:xfrm>
            <a:off x="948225" y="3742600"/>
            <a:ext cx="2590800" cy="331975"/>
          </a:xfrm>
          <a:prstGeom prst="rect">
            <a:avLst/>
          </a:prstGeom>
          <a:noFill/>
          <a:ln>
            <a:noFill/>
          </a:ln>
        </p:spPr>
      </p:pic>
      <p:pic>
        <p:nvPicPr>
          <p:cNvPr id="205" name="Google Shape;205;p31"/>
          <p:cNvPicPr preferRelativeResize="0"/>
          <p:nvPr/>
        </p:nvPicPr>
        <p:blipFill rotWithShape="1">
          <a:blip r:embed="rId6">
            <a:alphaModFix/>
          </a:blip>
          <a:srcRect b="77011" l="0" r="0" t="3506"/>
          <a:stretch/>
        </p:blipFill>
        <p:spPr>
          <a:xfrm>
            <a:off x="5536962" y="1535125"/>
            <a:ext cx="2590800" cy="685998"/>
          </a:xfrm>
          <a:prstGeom prst="rect">
            <a:avLst/>
          </a:prstGeom>
          <a:noFill/>
          <a:ln>
            <a:noFill/>
          </a:ln>
        </p:spPr>
      </p:pic>
      <p:pic>
        <p:nvPicPr>
          <p:cNvPr id="206" name="Google Shape;206;p31"/>
          <p:cNvPicPr preferRelativeResize="0"/>
          <p:nvPr/>
        </p:nvPicPr>
        <p:blipFill rotWithShape="1">
          <a:blip r:embed="rId6">
            <a:alphaModFix/>
          </a:blip>
          <a:srcRect b="3281" l="0" r="0" t="83022"/>
          <a:stretch/>
        </p:blipFill>
        <p:spPr>
          <a:xfrm>
            <a:off x="5415524" y="2738525"/>
            <a:ext cx="2833624" cy="527475"/>
          </a:xfrm>
          <a:prstGeom prst="rect">
            <a:avLst/>
          </a:prstGeom>
          <a:noFill/>
          <a:ln>
            <a:noFill/>
          </a:ln>
        </p:spPr>
      </p:pic>
      <p:pic>
        <p:nvPicPr>
          <p:cNvPr id="207" name="Google Shape;207;p31"/>
          <p:cNvPicPr preferRelativeResize="0"/>
          <p:nvPr/>
        </p:nvPicPr>
        <p:blipFill rotWithShape="1">
          <a:blip r:embed="rId6">
            <a:alphaModFix/>
          </a:blip>
          <a:srcRect b="40139" l="0" r="0" t="46164"/>
          <a:stretch/>
        </p:blipFill>
        <p:spPr>
          <a:xfrm>
            <a:off x="5415512" y="2165825"/>
            <a:ext cx="2833675" cy="527485"/>
          </a:xfrm>
          <a:prstGeom prst="rect">
            <a:avLst/>
          </a:prstGeom>
          <a:noFill/>
          <a:ln>
            <a:noFill/>
          </a:ln>
        </p:spPr>
      </p:pic>
      <p:pic>
        <p:nvPicPr>
          <p:cNvPr id="208" name="Google Shape;208;p31"/>
          <p:cNvPicPr preferRelativeResize="0"/>
          <p:nvPr/>
        </p:nvPicPr>
        <p:blipFill>
          <a:blip r:embed="rId7">
            <a:alphaModFix/>
          </a:blip>
          <a:stretch>
            <a:fillRect/>
          </a:stretch>
        </p:blipFill>
        <p:spPr>
          <a:xfrm>
            <a:off x="5973288" y="3622238"/>
            <a:ext cx="1718100" cy="5727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2" name="Shape 212"/>
        <p:cNvGrpSpPr/>
        <p:nvPr/>
      </p:nvGrpSpPr>
      <p:grpSpPr>
        <a:xfrm>
          <a:off x="0" y="0"/>
          <a:ext cx="0" cy="0"/>
          <a:chOff x="0" y="0"/>
          <a:chExt cx="0" cy="0"/>
        </a:xfrm>
      </p:grpSpPr>
      <p:sp>
        <p:nvSpPr>
          <p:cNvPr id="213" name="Google Shape;213;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Dunkerley Method</a:t>
            </a:r>
            <a:endParaRPr b="1" sz="2400">
              <a:latin typeface="Times New Roman"/>
              <a:ea typeface="Times New Roman"/>
              <a:cs typeface="Times New Roman"/>
              <a:sym typeface="Times New Roman"/>
            </a:endParaRPr>
          </a:p>
        </p:txBody>
      </p:sp>
      <p:sp>
        <p:nvSpPr>
          <p:cNvPr id="214" name="Google Shape;214;p32"/>
          <p:cNvSpPr txBox="1"/>
          <p:nvPr>
            <p:ph idx="1" type="body"/>
          </p:nvPr>
        </p:nvSpPr>
        <p:spPr>
          <a:xfrm>
            <a:off x="311700" y="2462175"/>
            <a:ext cx="3999900" cy="2106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rPr>
              <a:t>Let the roots of be given by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00000"/>
              </a:lnSpc>
              <a:spcBef>
                <a:spcPts val="0"/>
              </a:spcBef>
              <a:spcAft>
                <a:spcPts val="0"/>
              </a:spcAft>
              <a:buNone/>
            </a:pPr>
            <a:r>
              <a:rPr lang="en" sz="1100">
                <a:solidFill>
                  <a:schemeClr val="dk1"/>
                </a:solidFill>
              </a:rPr>
              <a:t>we note that for many systems the higher natural frequencies are significantly larger than the fundamental natural frequency  so that</a:t>
            </a:r>
            <a:endParaRPr sz="1200">
              <a:solidFill>
                <a:schemeClr val="dk1"/>
              </a:solidFill>
            </a:endParaRPr>
          </a:p>
          <a:p>
            <a:pPr indent="0" lvl="0" marL="0" rtl="0" algn="l">
              <a:lnSpc>
                <a:spcPct val="100000"/>
              </a:lnSpc>
              <a:spcBef>
                <a:spcPts val="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171450" lvl="0" marL="285750" rtl="0" algn="l">
              <a:lnSpc>
                <a:spcPct val="115000"/>
              </a:lnSpc>
              <a:spcBef>
                <a:spcPts val="1200"/>
              </a:spcBef>
              <a:spcAft>
                <a:spcPts val="0"/>
              </a:spcAft>
              <a:buSzPts val="1800"/>
              <a:buNone/>
            </a:pPr>
            <a:r>
              <a:t/>
            </a:r>
            <a:endParaRPr b="1">
              <a:latin typeface="Times New Roman"/>
              <a:ea typeface="Times New Roman"/>
              <a:cs typeface="Times New Roman"/>
              <a:sym typeface="Times New Roman"/>
            </a:endParaRPr>
          </a:p>
          <a:p>
            <a:pPr indent="-171450" lvl="0" marL="285750" rtl="0" algn="l">
              <a:lnSpc>
                <a:spcPct val="115000"/>
              </a:lnSpc>
              <a:spcBef>
                <a:spcPts val="1200"/>
              </a:spcBef>
              <a:spcAft>
                <a:spcPts val="1200"/>
              </a:spcAft>
              <a:buSzPts val="1800"/>
              <a:buNone/>
            </a:pPr>
            <a:r>
              <a:t/>
            </a:r>
            <a:endParaRPr>
              <a:latin typeface="Times New Roman"/>
              <a:ea typeface="Times New Roman"/>
              <a:cs typeface="Times New Roman"/>
              <a:sym typeface="Times New Roman"/>
            </a:endParaRPr>
          </a:p>
        </p:txBody>
      </p:sp>
      <p:pic>
        <p:nvPicPr>
          <p:cNvPr id="215" name="Google Shape;215;p32"/>
          <p:cNvPicPr preferRelativeResize="0"/>
          <p:nvPr/>
        </p:nvPicPr>
        <p:blipFill>
          <a:blip r:embed="rId4">
            <a:alphaModFix/>
          </a:blip>
          <a:stretch>
            <a:fillRect/>
          </a:stretch>
        </p:blipFill>
        <p:spPr>
          <a:xfrm>
            <a:off x="400199" y="1152474"/>
            <a:ext cx="3822900" cy="1174950"/>
          </a:xfrm>
          <a:prstGeom prst="rect">
            <a:avLst/>
          </a:prstGeom>
          <a:noFill/>
          <a:ln>
            <a:noFill/>
          </a:ln>
        </p:spPr>
      </p:pic>
      <p:sp>
        <p:nvSpPr>
          <p:cNvPr id="216" name="Google Shape;216;p32"/>
          <p:cNvSpPr txBox="1"/>
          <p:nvPr>
            <p:ph idx="2" type="body"/>
          </p:nvPr>
        </p:nvSpPr>
        <p:spPr>
          <a:xfrm>
            <a:off x="4832400" y="1152475"/>
            <a:ext cx="3999900" cy="3640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100">
                <a:solidFill>
                  <a:schemeClr val="dk1"/>
                </a:solidFill>
              </a:rPr>
              <a:t>ignoring all but the first term on the LHS of results in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known as Dunkerley’s Formula and provides an estimate of the fundamental natural frequency of a system.</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Due to the terms that have been neglected, the natural frequency obtained using Equation will be </a:t>
            </a:r>
            <a:r>
              <a:rPr i="1" lang="en" sz="1100">
                <a:solidFill>
                  <a:schemeClr val="dk1"/>
                </a:solidFill>
              </a:rPr>
              <a:t>lower</a:t>
            </a:r>
            <a:r>
              <a:rPr lang="en" sz="1100">
                <a:solidFill>
                  <a:schemeClr val="dk1"/>
                </a:solidFill>
              </a:rPr>
              <a:t> than the actual fundamental natural frequency. </a:t>
            </a:r>
            <a:r>
              <a:rPr b="1" lang="en" sz="1100">
                <a:solidFill>
                  <a:schemeClr val="dk1"/>
                </a:solidFill>
              </a:rPr>
              <a:t>Dunkerley’s Formula therefore provides a </a:t>
            </a:r>
            <a:r>
              <a:rPr b="1" i="1" lang="en" sz="1100">
                <a:solidFill>
                  <a:schemeClr val="dk1"/>
                </a:solidFill>
              </a:rPr>
              <a:t>lower bound</a:t>
            </a:r>
            <a:r>
              <a:rPr b="1" lang="en" sz="1100">
                <a:solidFill>
                  <a:schemeClr val="dk1"/>
                </a:solidFill>
              </a:rPr>
              <a:t> on the lowest natural frequency of the system</a:t>
            </a:r>
            <a:endParaRPr b="1" sz="1100">
              <a:solidFill>
                <a:schemeClr val="dk1"/>
              </a:solidFill>
            </a:endParaRPr>
          </a:p>
        </p:txBody>
      </p:sp>
      <p:pic>
        <p:nvPicPr>
          <p:cNvPr id="217" name="Google Shape;217;p32"/>
          <p:cNvPicPr preferRelativeResize="0"/>
          <p:nvPr/>
        </p:nvPicPr>
        <p:blipFill>
          <a:blip r:embed="rId5">
            <a:alphaModFix/>
          </a:blip>
          <a:stretch>
            <a:fillRect/>
          </a:stretch>
        </p:blipFill>
        <p:spPr>
          <a:xfrm>
            <a:off x="2191350" y="2462171"/>
            <a:ext cx="1031925" cy="426784"/>
          </a:xfrm>
          <a:prstGeom prst="rect">
            <a:avLst/>
          </a:prstGeom>
          <a:noFill/>
          <a:ln>
            <a:noFill/>
          </a:ln>
        </p:spPr>
      </p:pic>
      <p:pic>
        <p:nvPicPr>
          <p:cNvPr id="218" name="Google Shape;218;p32"/>
          <p:cNvPicPr preferRelativeResize="0"/>
          <p:nvPr/>
        </p:nvPicPr>
        <p:blipFill>
          <a:blip r:embed="rId6">
            <a:alphaModFix/>
          </a:blip>
          <a:stretch>
            <a:fillRect/>
          </a:stretch>
        </p:blipFill>
        <p:spPr>
          <a:xfrm>
            <a:off x="646788" y="2941500"/>
            <a:ext cx="3329725" cy="482675"/>
          </a:xfrm>
          <a:prstGeom prst="rect">
            <a:avLst/>
          </a:prstGeom>
          <a:noFill/>
          <a:ln>
            <a:noFill/>
          </a:ln>
        </p:spPr>
      </p:pic>
      <p:pic>
        <p:nvPicPr>
          <p:cNvPr id="219" name="Google Shape;219;p32"/>
          <p:cNvPicPr preferRelativeResize="0"/>
          <p:nvPr/>
        </p:nvPicPr>
        <p:blipFill>
          <a:blip r:embed="rId7">
            <a:alphaModFix/>
          </a:blip>
          <a:stretch>
            <a:fillRect/>
          </a:stretch>
        </p:blipFill>
        <p:spPr>
          <a:xfrm>
            <a:off x="809562" y="4086200"/>
            <a:ext cx="3004184" cy="482675"/>
          </a:xfrm>
          <a:prstGeom prst="rect">
            <a:avLst/>
          </a:prstGeom>
          <a:noFill/>
          <a:ln>
            <a:noFill/>
          </a:ln>
        </p:spPr>
      </p:pic>
      <p:pic>
        <p:nvPicPr>
          <p:cNvPr id="220" name="Google Shape;220;p32"/>
          <p:cNvPicPr preferRelativeResize="0"/>
          <p:nvPr/>
        </p:nvPicPr>
        <p:blipFill>
          <a:blip r:embed="rId8">
            <a:alphaModFix/>
          </a:blip>
          <a:stretch>
            <a:fillRect/>
          </a:stretch>
        </p:blipFill>
        <p:spPr>
          <a:xfrm>
            <a:off x="5058460" y="1505848"/>
            <a:ext cx="3547765" cy="572700"/>
          </a:xfrm>
          <a:prstGeom prst="rect">
            <a:avLst/>
          </a:prstGeom>
          <a:noFill/>
          <a:ln>
            <a:noFill/>
          </a:ln>
        </p:spPr>
      </p:pic>
      <p:pic>
        <p:nvPicPr>
          <p:cNvPr id="221" name="Google Shape;221;p32"/>
          <p:cNvPicPr preferRelativeResize="0"/>
          <p:nvPr/>
        </p:nvPicPr>
        <p:blipFill>
          <a:blip r:embed="rId9">
            <a:alphaModFix/>
          </a:blip>
          <a:stretch>
            <a:fillRect/>
          </a:stretch>
        </p:blipFill>
        <p:spPr>
          <a:xfrm>
            <a:off x="5551686" y="2089075"/>
            <a:ext cx="2561291" cy="482675"/>
          </a:xfrm>
          <a:prstGeom prst="rect">
            <a:avLst/>
          </a:prstGeom>
          <a:noFill/>
          <a:ln>
            <a:noFill/>
          </a:ln>
        </p:spPr>
      </p:pic>
      <p:pic>
        <p:nvPicPr>
          <p:cNvPr id="222" name="Google Shape;222;p32"/>
          <p:cNvPicPr preferRelativeResize="0"/>
          <p:nvPr/>
        </p:nvPicPr>
        <p:blipFill>
          <a:blip r:embed="rId10">
            <a:alphaModFix/>
          </a:blip>
          <a:stretch>
            <a:fillRect/>
          </a:stretch>
        </p:blipFill>
        <p:spPr>
          <a:xfrm>
            <a:off x="6292937" y="3057397"/>
            <a:ext cx="1078825" cy="634150"/>
          </a:xfrm>
          <a:prstGeom prst="rect">
            <a:avLst/>
          </a:prstGeom>
          <a:noFill/>
          <a:ln>
            <a:noFill/>
          </a:ln>
        </p:spPr>
      </p:pic>
      <p:pic>
        <p:nvPicPr>
          <p:cNvPr id="223" name="Google Shape;223;p32"/>
          <p:cNvPicPr preferRelativeResize="0"/>
          <p:nvPr/>
        </p:nvPicPr>
        <p:blipFill>
          <a:blip r:embed="rId11">
            <a:alphaModFix/>
          </a:blip>
          <a:stretch>
            <a:fillRect/>
          </a:stretch>
        </p:blipFill>
        <p:spPr>
          <a:xfrm>
            <a:off x="6723400" y="4568875"/>
            <a:ext cx="1882824" cy="426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7" name="Shape 227"/>
        <p:cNvGrpSpPr/>
        <p:nvPr/>
      </p:nvGrpSpPr>
      <p:grpSpPr>
        <a:xfrm>
          <a:off x="0" y="0"/>
          <a:ext cx="0" cy="0"/>
          <a:chOff x="0" y="0"/>
          <a:chExt cx="0" cy="0"/>
        </a:xfrm>
      </p:grpSpPr>
      <p:sp>
        <p:nvSpPr>
          <p:cNvPr id="228" name="Google Shape;228;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Dunkerley Method - Example 1</a:t>
            </a:r>
            <a:endParaRPr b="1" sz="2400">
              <a:latin typeface="Times New Roman"/>
              <a:ea typeface="Times New Roman"/>
              <a:cs typeface="Times New Roman"/>
              <a:sym typeface="Times New Roman"/>
            </a:endParaRPr>
          </a:p>
        </p:txBody>
      </p:sp>
      <p:sp>
        <p:nvSpPr>
          <p:cNvPr id="229" name="Google Shape;229;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solidFill>
                  <a:schemeClr val="dk1"/>
                </a:solidFill>
              </a:rPr>
              <a:t>Use Dunkerley’s formula to find the lowest natural frequency</a:t>
            </a:r>
            <a:endParaRPr sz="1500">
              <a:solidFill>
                <a:schemeClr val="dk1"/>
              </a:solidFill>
            </a:endParaRPr>
          </a:p>
          <a:p>
            <a:pPr indent="0" lvl="0" marL="0" rtl="0" algn="l">
              <a:spcBef>
                <a:spcPts val="0"/>
              </a:spcBef>
              <a:spcAft>
                <a:spcPts val="0"/>
              </a:spcAft>
              <a:buNone/>
            </a:pPr>
            <a:r>
              <a:rPr lang="en" sz="1500">
                <a:solidFill>
                  <a:schemeClr val="dk1"/>
                </a:solidFill>
              </a:rPr>
              <a:t>of the system shown.</a:t>
            </a:r>
            <a:endParaRPr sz="1500">
              <a:solidFill>
                <a:schemeClr val="dk1"/>
              </a:solidFill>
            </a:endParaRPr>
          </a:p>
          <a:p>
            <a:pPr indent="0" lvl="0" marL="0" rtl="0" algn="l">
              <a:spcBef>
                <a:spcPts val="0"/>
              </a:spcBef>
              <a:spcAft>
                <a:spcPts val="0"/>
              </a:spcAft>
              <a:buNone/>
            </a:pPr>
            <a:r>
              <a:rPr lang="en" sz="1500">
                <a:solidFill>
                  <a:schemeClr val="dk1"/>
                </a:solidFill>
              </a:rPr>
              <a:t>Given:</a:t>
            </a:r>
            <a:endParaRPr sz="1500">
              <a:solidFill>
                <a:schemeClr val="dk1"/>
              </a:solidFill>
            </a:endParaRPr>
          </a:p>
          <a:p>
            <a:pPr indent="0" lvl="0" marL="0" rtl="0" algn="l">
              <a:spcBef>
                <a:spcPts val="0"/>
              </a:spcBef>
              <a:spcAft>
                <a:spcPts val="0"/>
              </a:spcAft>
              <a:buNone/>
            </a:pPr>
            <a:r>
              <a:rPr lang="en" sz="1500">
                <a:solidFill>
                  <a:schemeClr val="dk1"/>
                </a:solidFill>
              </a:rPr>
              <a:t>m</a:t>
            </a:r>
            <a:r>
              <a:rPr baseline="-25000" lang="en" sz="1500">
                <a:solidFill>
                  <a:schemeClr val="dk1"/>
                </a:solidFill>
              </a:rPr>
              <a:t>1</a:t>
            </a:r>
            <a:r>
              <a:rPr lang="en" sz="1500">
                <a:solidFill>
                  <a:schemeClr val="dk1"/>
                </a:solidFill>
              </a:rPr>
              <a:t>= 4m; m</a:t>
            </a:r>
            <a:r>
              <a:rPr baseline="-25000" lang="en" sz="1500">
                <a:solidFill>
                  <a:schemeClr val="dk1"/>
                </a:solidFill>
              </a:rPr>
              <a:t>2</a:t>
            </a:r>
            <a:r>
              <a:rPr lang="en" sz="1500">
                <a:solidFill>
                  <a:schemeClr val="dk1"/>
                </a:solidFill>
              </a:rPr>
              <a:t>= 2m; m</a:t>
            </a:r>
            <a:r>
              <a:rPr baseline="-25000" lang="en" sz="1500">
                <a:solidFill>
                  <a:schemeClr val="dk1"/>
                </a:solidFill>
              </a:rPr>
              <a:t>3</a:t>
            </a:r>
            <a:r>
              <a:rPr lang="en" sz="1500">
                <a:solidFill>
                  <a:schemeClr val="dk1"/>
                </a:solidFill>
              </a:rPr>
              <a:t>=m</a:t>
            </a:r>
            <a:endParaRPr sz="1500">
              <a:solidFill>
                <a:schemeClr val="dk1"/>
              </a:solidFill>
            </a:endParaRPr>
          </a:p>
          <a:p>
            <a:pPr indent="0" lvl="0" marL="0" rtl="0" algn="l">
              <a:spcBef>
                <a:spcPts val="0"/>
              </a:spcBef>
              <a:spcAft>
                <a:spcPts val="0"/>
              </a:spcAft>
              <a:buNone/>
            </a:pPr>
            <a:r>
              <a:rPr lang="en" sz="1500">
                <a:solidFill>
                  <a:schemeClr val="dk1"/>
                </a:solidFill>
              </a:rPr>
              <a:t>k</a:t>
            </a:r>
            <a:r>
              <a:rPr baseline="-25000" lang="en" sz="1500">
                <a:solidFill>
                  <a:schemeClr val="dk1"/>
                </a:solidFill>
              </a:rPr>
              <a:t>1</a:t>
            </a:r>
            <a:r>
              <a:rPr lang="en" sz="1500">
                <a:solidFill>
                  <a:schemeClr val="dk1"/>
                </a:solidFill>
              </a:rPr>
              <a:t>= 3k; k</a:t>
            </a:r>
            <a:r>
              <a:rPr baseline="-25000" lang="en" sz="1500">
                <a:solidFill>
                  <a:schemeClr val="dk1"/>
                </a:solidFill>
              </a:rPr>
              <a:t>2</a:t>
            </a:r>
            <a:r>
              <a:rPr lang="en" sz="1500">
                <a:solidFill>
                  <a:schemeClr val="dk1"/>
                </a:solidFill>
              </a:rPr>
              <a:t>= k; k</a:t>
            </a:r>
            <a:r>
              <a:rPr baseline="-25000" lang="en" sz="1500">
                <a:solidFill>
                  <a:schemeClr val="dk1"/>
                </a:solidFill>
              </a:rPr>
              <a:t>3</a:t>
            </a:r>
            <a:r>
              <a:rPr lang="en" sz="1500">
                <a:solidFill>
                  <a:schemeClr val="dk1"/>
                </a:solidFill>
              </a:rPr>
              <a:t>=k </a:t>
            </a:r>
            <a:endParaRPr sz="1500">
              <a:solidFill>
                <a:schemeClr val="dk1"/>
              </a:solidFill>
            </a:endParaRPr>
          </a:p>
          <a:p>
            <a:pPr indent="0" lvl="0" marL="0" rtl="0" algn="l">
              <a:spcBef>
                <a:spcPts val="0"/>
              </a:spcBef>
              <a:spcAft>
                <a:spcPts val="0"/>
              </a:spcAft>
              <a:buNone/>
            </a:pPr>
            <a:r>
              <a:rPr lang="en" sz="1500">
                <a:solidFill>
                  <a:schemeClr val="dk1"/>
                </a:solidFill>
              </a:rPr>
              <a:t>Taking individual components</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baseline="-25000" sz="1500">
              <a:solidFill>
                <a:schemeClr val="dk1"/>
              </a:solidFill>
            </a:endParaRPr>
          </a:p>
        </p:txBody>
      </p:sp>
      <p:pic>
        <p:nvPicPr>
          <p:cNvPr id="230" name="Google Shape;230;p33"/>
          <p:cNvPicPr preferRelativeResize="0"/>
          <p:nvPr/>
        </p:nvPicPr>
        <p:blipFill>
          <a:blip r:embed="rId4">
            <a:alphaModFix/>
          </a:blip>
          <a:stretch>
            <a:fillRect/>
          </a:stretch>
        </p:blipFill>
        <p:spPr>
          <a:xfrm>
            <a:off x="6358500" y="1255400"/>
            <a:ext cx="1038200" cy="3210550"/>
          </a:xfrm>
          <a:prstGeom prst="rect">
            <a:avLst/>
          </a:prstGeom>
          <a:noFill/>
          <a:ln>
            <a:noFill/>
          </a:ln>
        </p:spPr>
      </p:pic>
      <p:pic>
        <p:nvPicPr>
          <p:cNvPr id="231" name="Google Shape;231;p33"/>
          <p:cNvPicPr preferRelativeResize="0"/>
          <p:nvPr/>
        </p:nvPicPr>
        <p:blipFill>
          <a:blip r:embed="rId5">
            <a:alphaModFix/>
          </a:blip>
          <a:stretch>
            <a:fillRect/>
          </a:stretch>
        </p:blipFill>
        <p:spPr>
          <a:xfrm>
            <a:off x="2250525" y="2917650"/>
            <a:ext cx="2514275" cy="1102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5" name="Shape 235"/>
        <p:cNvGrpSpPr/>
        <p:nvPr/>
      </p:nvGrpSpPr>
      <p:grpSpPr>
        <a:xfrm>
          <a:off x="0" y="0"/>
          <a:ext cx="0" cy="0"/>
          <a:chOff x="0" y="0"/>
          <a:chExt cx="0" cy="0"/>
        </a:xfrm>
      </p:grpSpPr>
      <p:sp>
        <p:nvSpPr>
          <p:cNvPr id="236" name="Google Shape;236;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400">
                <a:latin typeface="Times New Roman"/>
                <a:ea typeface="Times New Roman"/>
                <a:cs typeface="Times New Roman"/>
                <a:sym typeface="Times New Roman"/>
              </a:rPr>
              <a:t>Dunkerley Method - Example 1</a:t>
            </a:r>
            <a:endParaRPr b="1" sz="2400">
              <a:latin typeface="Times New Roman"/>
              <a:ea typeface="Times New Roman"/>
              <a:cs typeface="Times New Roman"/>
              <a:sym typeface="Times New Roman"/>
            </a:endParaRPr>
          </a:p>
        </p:txBody>
      </p:sp>
      <p:pic>
        <p:nvPicPr>
          <p:cNvPr id="237" name="Google Shape;237;p34"/>
          <p:cNvPicPr preferRelativeResize="0"/>
          <p:nvPr/>
        </p:nvPicPr>
        <p:blipFill>
          <a:blip r:embed="rId4">
            <a:alphaModFix/>
          </a:blip>
          <a:stretch>
            <a:fillRect/>
          </a:stretch>
        </p:blipFill>
        <p:spPr>
          <a:xfrm>
            <a:off x="1096650" y="1017725"/>
            <a:ext cx="1911876" cy="2247574"/>
          </a:xfrm>
          <a:prstGeom prst="rect">
            <a:avLst/>
          </a:prstGeom>
          <a:noFill/>
          <a:ln>
            <a:noFill/>
          </a:ln>
        </p:spPr>
      </p:pic>
      <p:pic>
        <p:nvPicPr>
          <p:cNvPr id="238" name="Google Shape;238;p34"/>
          <p:cNvPicPr preferRelativeResize="0"/>
          <p:nvPr/>
        </p:nvPicPr>
        <p:blipFill>
          <a:blip r:embed="rId5">
            <a:alphaModFix/>
          </a:blip>
          <a:stretch>
            <a:fillRect/>
          </a:stretch>
        </p:blipFill>
        <p:spPr>
          <a:xfrm>
            <a:off x="3715825" y="1017725"/>
            <a:ext cx="1911876" cy="2247574"/>
          </a:xfrm>
          <a:prstGeom prst="rect">
            <a:avLst/>
          </a:prstGeom>
          <a:noFill/>
          <a:ln>
            <a:noFill/>
          </a:ln>
        </p:spPr>
      </p:pic>
      <p:pic>
        <p:nvPicPr>
          <p:cNvPr id="239" name="Google Shape;239;p34"/>
          <p:cNvPicPr preferRelativeResize="0"/>
          <p:nvPr/>
        </p:nvPicPr>
        <p:blipFill>
          <a:blip r:embed="rId6">
            <a:alphaModFix/>
          </a:blip>
          <a:stretch>
            <a:fillRect/>
          </a:stretch>
        </p:blipFill>
        <p:spPr>
          <a:xfrm>
            <a:off x="6335000" y="1017725"/>
            <a:ext cx="1911875" cy="2247574"/>
          </a:xfrm>
          <a:prstGeom prst="rect">
            <a:avLst/>
          </a:prstGeom>
          <a:noFill/>
          <a:ln>
            <a:noFill/>
          </a:ln>
        </p:spPr>
      </p:pic>
      <p:pic>
        <p:nvPicPr>
          <p:cNvPr id="240" name="Google Shape;240;p34"/>
          <p:cNvPicPr preferRelativeResize="0"/>
          <p:nvPr/>
        </p:nvPicPr>
        <p:blipFill>
          <a:blip r:embed="rId7">
            <a:alphaModFix/>
          </a:blip>
          <a:stretch>
            <a:fillRect/>
          </a:stretch>
        </p:blipFill>
        <p:spPr>
          <a:xfrm>
            <a:off x="1096650" y="3451376"/>
            <a:ext cx="1776675" cy="614900"/>
          </a:xfrm>
          <a:prstGeom prst="rect">
            <a:avLst/>
          </a:prstGeom>
          <a:noFill/>
          <a:ln>
            <a:noFill/>
          </a:ln>
        </p:spPr>
      </p:pic>
      <p:pic>
        <p:nvPicPr>
          <p:cNvPr id="241" name="Google Shape;241;p34"/>
          <p:cNvPicPr preferRelativeResize="0"/>
          <p:nvPr/>
        </p:nvPicPr>
        <p:blipFill>
          <a:blip r:embed="rId8">
            <a:alphaModFix/>
          </a:blip>
          <a:stretch>
            <a:fillRect/>
          </a:stretch>
        </p:blipFill>
        <p:spPr>
          <a:xfrm>
            <a:off x="3154375" y="3451375"/>
            <a:ext cx="2835251" cy="1517301"/>
          </a:xfrm>
          <a:prstGeom prst="rect">
            <a:avLst/>
          </a:prstGeom>
          <a:noFill/>
          <a:ln>
            <a:noFill/>
          </a:ln>
        </p:spPr>
      </p:pic>
      <p:cxnSp>
        <p:nvCxnSpPr>
          <p:cNvPr id="242" name="Google Shape;242;p34"/>
          <p:cNvCxnSpPr>
            <a:endCxn id="238" idx="1"/>
          </p:cNvCxnSpPr>
          <p:nvPr/>
        </p:nvCxnSpPr>
        <p:spPr>
          <a:xfrm flipH="1" rot="10800000">
            <a:off x="3035725" y="2141512"/>
            <a:ext cx="680100" cy="1500"/>
          </a:xfrm>
          <a:prstGeom prst="straightConnector1">
            <a:avLst/>
          </a:prstGeom>
          <a:noFill/>
          <a:ln cap="flat" cmpd="sng" w="9525">
            <a:solidFill>
              <a:schemeClr val="dk1"/>
            </a:solidFill>
            <a:prstDash val="solid"/>
            <a:round/>
            <a:headEnd len="med" w="med" type="none"/>
            <a:tailEnd len="med" w="med" type="triangle"/>
          </a:ln>
        </p:spPr>
      </p:cxnSp>
      <p:cxnSp>
        <p:nvCxnSpPr>
          <p:cNvPr id="243" name="Google Shape;243;p34"/>
          <p:cNvCxnSpPr>
            <a:endCxn id="239" idx="1"/>
          </p:cNvCxnSpPr>
          <p:nvPr/>
        </p:nvCxnSpPr>
        <p:spPr>
          <a:xfrm flipH="1" rot="10800000">
            <a:off x="5648300" y="2141512"/>
            <a:ext cx="686700" cy="10800"/>
          </a:xfrm>
          <a:prstGeom prst="straightConnector1">
            <a:avLst/>
          </a:prstGeom>
          <a:noFill/>
          <a:ln cap="flat" cmpd="sng" w="9525">
            <a:solidFill>
              <a:schemeClr val="dk1"/>
            </a:solidFill>
            <a:prstDash val="solid"/>
            <a:round/>
            <a:headEnd len="med" w="med" type="none"/>
            <a:tailEnd len="med" w="med" type="triangle"/>
          </a:ln>
        </p:spPr>
      </p:cxnSp>
      <p:cxnSp>
        <p:nvCxnSpPr>
          <p:cNvPr id="244" name="Google Shape;244;p34"/>
          <p:cNvCxnSpPr/>
          <p:nvPr/>
        </p:nvCxnSpPr>
        <p:spPr>
          <a:xfrm>
            <a:off x="2863400" y="3766900"/>
            <a:ext cx="290400" cy="273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sp>
        <p:nvSpPr>
          <p:cNvPr id="249" name="Google Shape;249;p35"/>
          <p:cNvSpPr txBox="1"/>
          <p:nvPr>
            <p:ph type="title"/>
          </p:nvPr>
        </p:nvSpPr>
        <p:spPr>
          <a:xfrm>
            <a:off x="384275" y="6718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100">
                <a:latin typeface="Times New Roman"/>
                <a:ea typeface="Times New Roman"/>
                <a:cs typeface="Times New Roman"/>
                <a:sym typeface="Times New Roman"/>
              </a:rPr>
              <a:t>Dunkerley Method - Estimating Critical Speed of Shaft</a:t>
            </a:r>
            <a:endParaRPr b="1" sz="2100">
              <a:latin typeface="Times New Roman"/>
              <a:ea typeface="Times New Roman"/>
              <a:cs typeface="Times New Roman"/>
              <a:sym typeface="Times New Roman"/>
            </a:endParaRPr>
          </a:p>
        </p:txBody>
      </p:sp>
      <p:sp>
        <p:nvSpPr>
          <p:cNvPr id="250" name="Google Shape;250;p35"/>
          <p:cNvSpPr txBox="1"/>
          <p:nvPr>
            <p:ph idx="1" type="body"/>
          </p:nvPr>
        </p:nvSpPr>
        <p:spPr>
          <a:xfrm>
            <a:off x="311700" y="1152475"/>
            <a:ext cx="8520600" cy="446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rPr>
              <a:t>The speed at which shaft has maximum deflection is called as </a:t>
            </a:r>
            <a:r>
              <a:rPr b="1" lang="en" sz="1500">
                <a:solidFill>
                  <a:schemeClr val="dk1"/>
                </a:solidFill>
              </a:rPr>
              <a:t>shaft critical speed.</a:t>
            </a:r>
            <a:endParaRPr b="1" sz="1500">
              <a:solidFill>
                <a:schemeClr val="dk1"/>
              </a:solidFill>
            </a:endParaRPr>
          </a:p>
          <a:p>
            <a:pPr indent="0" lvl="0" marL="457200" rtl="0" algn="l">
              <a:spcBef>
                <a:spcPts val="0"/>
              </a:spcBef>
              <a:spcAft>
                <a:spcPts val="0"/>
              </a:spcAft>
              <a:buNone/>
            </a:pPr>
            <a:r>
              <a:t/>
            </a:r>
            <a:endParaRPr b="1"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                                   </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sz="1500">
              <a:solidFill>
                <a:schemeClr val="dk1"/>
              </a:solidFill>
            </a:endParaRPr>
          </a:p>
          <a:p>
            <a:pPr indent="0" lvl="0" marL="0" rtl="0" algn="l">
              <a:spcBef>
                <a:spcPts val="0"/>
              </a:spcBef>
              <a:spcAft>
                <a:spcPts val="0"/>
              </a:spcAft>
              <a:buClr>
                <a:schemeClr val="dk1"/>
              </a:buClr>
              <a:buSzPts val="1100"/>
              <a:buFont typeface="Arial"/>
              <a:buNone/>
            </a:pPr>
            <a:r>
              <a:t/>
            </a:r>
            <a:endParaRPr baseline="-25000" sz="1500">
              <a:solidFill>
                <a:schemeClr val="dk1"/>
              </a:solidFill>
            </a:endParaRPr>
          </a:p>
          <a:p>
            <a:pPr indent="0" lvl="0" marL="0" rtl="0" algn="l">
              <a:spcBef>
                <a:spcPts val="0"/>
              </a:spcBef>
              <a:spcAft>
                <a:spcPts val="0"/>
              </a:spcAft>
              <a:buNone/>
            </a:pPr>
            <a:r>
              <a:t/>
            </a:r>
            <a:endParaRPr b="1" baseline="-25000" sz="1500">
              <a:solidFill>
                <a:srgbClr val="000000"/>
              </a:solidFill>
            </a:endParaRPr>
          </a:p>
        </p:txBody>
      </p:sp>
      <p:sp>
        <p:nvSpPr>
          <p:cNvPr id="251" name="Google Shape;251;p35"/>
          <p:cNvSpPr txBox="1"/>
          <p:nvPr/>
        </p:nvSpPr>
        <p:spPr>
          <a:xfrm>
            <a:off x="4586975" y="1798400"/>
            <a:ext cx="4254600" cy="31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252" name="Google Shape;252;p35"/>
          <p:cNvPicPr preferRelativeResize="0"/>
          <p:nvPr/>
        </p:nvPicPr>
        <p:blipFill>
          <a:blip r:embed="rId4">
            <a:alphaModFix/>
          </a:blip>
          <a:stretch>
            <a:fillRect/>
          </a:stretch>
        </p:blipFill>
        <p:spPr>
          <a:xfrm>
            <a:off x="384275" y="1598875"/>
            <a:ext cx="3799626" cy="1623750"/>
          </a:xfrm>
          <a:prstGeom prst="rect">
            <a:avLst/>
          </a:prstGeom>
          <a:noFill/>
          <a:ln>
            <a:noFill/>
          </a:ln>
        </p:spPr>
      </p:pic>
      <p:pic>
        <p:nvPicPr>
          <p:cNvPr id="253" name="Google Shape;253;p35"/>
          <p:cNvPicPr preferRelativeResize="0"/>
          <p:nvPr/>
        </p:nvPicPr>
        <p:blipFill rotWithShape="1">
          <a:blip r:embed="rId5">
            <a:alphaModFix/>
          </a:blip>
          <a:srcRect b="6702" l="1662" r="4432" t="4754"/>
          <a:stretch/>
        </p:blipFill>
        <p:spPr>
          <a:xfrm>
            <a:off x="4267300" y="1598875"/>
            <a:ext cx="4565002" cy="2195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7" name="Shape 257"/>
        <p:cNvGrpSpPr/>
        <p:nvPr/>
      </p:nvGrpSpPr>
      <p:grpSpPr>
        <a:xfrm>
          <a:off x="0" y="0"/>
          <a:ext cx="0" cy="0"/>
          <a:chOff x="0" y="0"/>
          <a:chExt cx="0" cy="0"/>
        </a:xfrm>
      </p:grpSpPr>
      <p:sp>
        <p:nvSpPr>
          <p:cNvPr id="258" name="Google Shape;258;p36"/>
          <p:cNvSpPr txBox="1"/>
          <p:nvPr>
            <p:ph type="title"/>
          </p:nvPr>
        </p:nvSpPr>
        <p:spPr>
          <a:xfrm>
            <a:off x="384275" y="671800"/>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100">
                <a:latin typeface="Times New Roman"/>
                <a:ea typeface="Times New Roman"/>
                <a:cs typeface="Times New Roman"/>
                <a:sym typeface="Times New Roman"/>
              </a:rPr>
              <a:t>Dunkerley Method - Estimating Critical Speed of Shaft</a:t>
            </a:r>
            <a:endParaRPr b="1" sz="2100">
              <a:latin typeface="Times New Roman"/>
              <a:ea typeface="Times New Roman"/>
              <a:cs typeface="Times New Roman"/>
              <a:sym typeface="Times New Roman"/>
            </a:endParaRPr>
          </a:p>
        </p:txBody>
      </p:sp>
      <p:sp>
        <p:nvSpPr>
          <p:cNvPr id="259" name="Google Shape;259;p36"/>
          <p:cNvSpPr txBox="1"/>
          <p:nvPr/>
        </p:nvSpPr>
        <p:spPr>
          <a:xfrm>
            <a:off x="4586975" y="1798400"/>
            <a:ext cx="4254600" cy="31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260" name="Google Shape;260;p36"/>
          <p:cNvPicPr preferRelativeResize="0"/>
          <p:nvPr/>
        </p:nvPicPr>
        <p:blipFill>
          <a:blip r:embed="rId4">
            <a:alphaModFix/>
          </a:blip>
          <a:stretch>
            <a:fillRect/>
          </a:stretch>
        </p:blipFill>
        <p:spPr>
          <a:xfrm>
            <a:off x="107050" y="1206400"/>
            <a:ext cx="3708851" cy="2109426"/>
          </a:xfrm>
          <a:prstGeom prst="rect">
            <a:avLst/>
          </a:prstGeom>
          <a:noFill/>
          <a:ln>
            <a:noFill/>
          </a:ln>
        </p:spPr>
      </p:pic>
      <p:pic>
        <p:nvPicPr>
          <p:cNvPr id="261" name="Google Shape;261;p36"/>
          <p:cNvPicPr preferRelativeResize="0"/>
          <p:nvPr/>
        </p:nvPicPr>
        <p:blipFill>
          <a:blip r:embed="rId5">
            <a:alphaModFix/>
          </a:blip>
          <a:stretch>
            <a:fillRect/>
          </a:stretch>
        </p:blipFill>
        <p:spPr>
          <a:xfrm>
            <a:off x="107050" y="3315825"/>
            <a:ext cx="1075875" cy="523650"/>
          </a:xfrm>
          <a:prstGeom prst="rect">
            <a:avLst/>
          </a:prstGeom>
          <a:noFill/>
          <a:ln>
            <a:noFill/>
          </a:ln>
        </p:spPr>
      </p:pic>
      <p:pic>
        <p:nvPicPr>
          <p:cNvPr id="262" name="Google Shape;262;p36"/>
          <p:cNvPicPr preferRelativeResize="0"/>
          <p:nvPr/>
        </p:nvPicPr>
        <p:blipFill rotWithShape="1">
          <a:blip r:embed="rId6">
            <a:alphaModFix/>
          </a:blip>
          <a:srcRect b="17328" l="7297" r="13293" t="0"/>
          <a:stretch/>
        </p:blipFill>
        <p:spPr>
          <a:xfrm>
            <a:off x="4735750" y="1206400"/>
            <a:ext cx="921651" cy="572700"/>
          </a:xfrm>
          <a:prstGeom prst="rect">
            <a:avLst/>
          </a:prstGeom>
          <a:noFill/>
          <a:ln>
            <a:noFill/>
          </a:ln>
        </p:spPr>
      </p:pic>
      <p:pic>
        <p:nvPicPr>
          <p:cNvPr id="263" name="Google Shape;263;p36"/>
          <p:cNvPicPr preferRelativeResize="0"/>
          <p:nvPr/>
        </p:nvPicPr>
        <p:blipFill rotWithShape="1">
          <a:blip r:embed="rId7">
            <a:alphaModFix/>
          </a:blip>
          <a:srcRect b="8233" l="4901" r="8653" t="26785"/>
          <a:stretch/>
        </p:blipFill>
        <p:spPr>
          <a:xfrm>
            <a:off x="5657400" y="1190913"/>
            <a:ext cx="3028251" cy="2761674"/>
          </a:xfrm>
          <a:prstGeom prst="rect">
            <a:avLst/>
          </a:prstGeom>
          <a:noFill/>
          <a:ln>
            <a:noFill/>
          </a:ln>
        </p:spPr>
      </p:pic>
      <p:cxnSp>
        <p:nvCxnSpPr>
          <p:cNvPr id="264" name="Google Shape;264;p36"/>
          <p:cNvCxnSpPr/>
          <p:nvPr/>
        </p:nvCxnSpPr>
        <p:spPr>
          <a:xfrm>
            <a:off x="4195475" y="2379000"/>
            <a:ext cx="1135500" cy="180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8" name="Shape 268"/>
        <p:cNvGrpSpPr/>
        <p:nvPr/>
      </p:nvGrpSpPr>
      <p:grpSpPr>
        <a:xfrm>
          <a:off x="0" y="0"/>
          <a:ext cx="0" cy="0"/>
          <a:chOff x="0" y="0"/>
          <a:chExt cx="0" cy="0"/>
        </a:xfrm>
      </p:grpSpPr>
      <p:sp>
        <p:nvSpPr>
          <p:cNvPr id="269" name="Google Shape;269;p37"/>
          <p:cNvSpPr txBox="1"/>
          <p:nvPr/>
        </p:nvSpPr>
        <p:spPr>
          <a:xfrm>
            <a:off x="807350" y="771075"/>
            <a:ext cx="77712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Times New Roman"/>
                <a:ea typeface="Times New Roman"/>
                <a:cs typeface="Times New Roman"/>
                <a:sym typeface="Times New Roman"/>
              </a:rPr>
              <a:t>Dunkerley Method - Critical Speed of Shaft Example</a:t>
            </a:r>
            <a:endParaRPr/>
          </a:p>
        </p:txBody>
      </p:sp>
      <p:pic>
        <p:nvPicPr>
          <p:cNvPr id="270" name="Google Shape;270;p37"/>
          <p:cNvPicPr preferRelativeResize="0"/>
          <p:nvPr/>
        </p:nvPicPr>
        <p:blipFill>
          <a:blip r:embed="rId4">
            <a:alphaModFix/>
          </a:blip>
          <a:stretch>
            <a:fillRect/>
          </a:stretch>
        </p:blipFill>
        <p:spPr>
          <a:xfrm>
            <a:off x="2096325" y="1377200"/>
            <a:ext cx="4951350" cy="1965049"/>
          </a:xfrm>
          <a:prstGeom prst="rect">
            <a:avLst/>
          </a:prstGeom>
          <a:noFill/>
          <a:ln>
            <a:noFill/>
          </a:ln>
        </p:spPr>
      </p:pic>
      <p:sp>
        <p:nvSpPr>
          <p:cNvPr id="271" name="Google Shape;271;p37"/>
          <p:cNvSpPr txBox="1"/>
          <p:nvPr/>
        </p:nvSpPr>
        <p:spPr>
          <a:xfrm>
            <a:off x="1637700" y="3431550"/>
            <a:ext cx="5868600" cy="5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Take </a:t>
            </a:r>
            <a:r>
              <a:rPr lang="en">
                <a:solidFill>
                  <a:schemeClr val="dk1"/>
                </a:solidFill>
                <a:latin typeface="Times New Roman"/>
                <a:ea typeface="Times New Roman"/>
                <a:cs typeface="Times New Roman"/>
                <a:sym typeface="Times New Roman"/>
              </a:rPr>
              <a:t>each rotor mass is 50 kg.</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5" name="Shape 275"/>
        <p:cNvGrpSpPr/>
        <p:nvPr/>
      </p:nvGrpSpPr>
      <p:grpSpPr>
        <a:xfrm>
          <a:off x="0" y="0"/>
          <a:ext cx="0" cy="0"/>
          <a:chOff x="0" y="0"/>
          <a:chExt cx="0" cy="0"/>
        </a:xfrm>
      </p:grpSpPr>
      <p:sp>
        <p:nvSpPr>
          <p:cNvPr id="276" name="Google Shape;276;p38"/>
          <p:cNvSpPr txBox="1"/>
          <p:nvPr/>
        </p:nvSpPr>
        <p:spPr>
          <a:xfrm>
            <a:off x="807350" y="771075"/>
            <a:ext cx="77712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Times New Roman"/>
                <a:ea typeface="Times New Roman"/>
                <a:cs typeface="Times New Roman"/>
                <a:sym typeface="Times New Roman"/>
              </a:rPr>
              <a:t>Solution</a:t>
            </a:r>
            <a:endParaRPr/>
          </a:p>
        </p:txBody>
      </p:sp>
      <p:pic>
        <p:nvPicPr>
          <p:cNvPr id="277" name="Google Shape;277;p38"/>
          <p:cNvPicPr preferRelativeResize="0"/>
          <p:nvPr/>
        </p:nvPicPr>
        <p:blipFill>
          <a:blip r:embed="rId4">
            <a:alphaModFix/>
          </a:blip>
          <a:stretch>
            <a:fillRect/>
          </a:stretch>
        </p:blipFill>
        <p:spPr>
          <a:xfrm>
            <a:off x="1811713" y="1227800"/>
            <a:ext cx="5762470" cy="35597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1" name="Shape 281"/>
        <p:cNvGrpSpPr/>
        <p:nvPr/>
      </p:nvGrpSpPr>
      <p:grpSpPr>
        <a:xfrm>
          <a:off x="0" y="0"/>
          <a:ext cx="0" cy="0"/>
          <a:chOff x="0" y="0"/>
          <a:chExt cx="0" cy="0"/>
        </a:xfrm>
      </p:grpSpPr>
      <p:sp>
        <p:nvSpPr>
          <p:cNvPr id="282" name="Google Shape;282;p39"/>
          <p:cNvSpPr txBox="1"/>
          <p:nvPr/>
        </p:nvSpPr>
        <p:spPr>
          <a:xfrm>
            <a:off x="807350" y="771075"/>
            <a:ext cx="77712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Times New Roman"/>
                <a:ea typeface="Times New Roman"/>
                <a:cs typeface="Times New Roman"/>
                <a:sym typeface="Times New Roman"/>
              </a:rPr>
              <a:t>Solution</a:t>
            </a:r>
            <a:endParaRPr/>
          </a:p>
        </p:txBody>
      </p:sp>
      <p:pic>
        <p:nvPicPr>
          <p:cNvPr id="283" name="Google Shape;283;p39"/>
          <p:cNvPicPr preferRelativeResize="0"/>
          <p:nvPr/>
        </p:nvPicPr>
        <p:blipFill>
          <a:blip r:embed="rId4">
            <a:alphaModFix/>
          </a:blip>
          <a:stretch>
            <a:fillRect/>
          </a:stretch>
        </p:blipFill>
        <p:spPr>
          <a:xfrm>
            <a:off x="553300" y="1363125"/>
            <a:ext cx="3743266" cy="3559725"/>
          </a:xfrm>
          <a:prstGeom prst="rect">
            <a:avLst/>
          </a:prstGeom>
          <a:noFill/>
          <a:ln>
            <a:noFill/>
          </a:ln>
        </p:spPr>
      </p:pic>
      <p:pic>
        <p:nvPicPr>
          <p:cNvPr id="284" name="Google Shape;284;p39"/>
          <p:cNvPicPr preferRelativeResize="0"/>
          <p:nvPr/>
        </p:nvPicPr>
        <p:blipFill>
          <a:blip r:embed="rId5">
            <a:alphaModFix/>
          </a:blip>
          <a:stretch>
            <a:fillRect/>
          </a:stretch>
        </p:blipFill>
        <p:spPr>
          <a:xfrm>
            <a:off x="4572000" y="1363125"/>
            <a:ext cx="4259952" cy="35597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